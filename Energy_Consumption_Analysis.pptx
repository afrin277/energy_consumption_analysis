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33"/>
  </p:notesMasterIdLst>
  <p:sldIdLst>
    <p:sldId id="257" r:id="rId2"/>
    <p:sldId id="258" r:id="rId3"/>
    <p:sldId id="260" r:id="rId4"/>
    <p:sldId id="261" r:id="rId5"/>
    <p:sldId id="291" r:id="rId6"/>
    <p:sldId id="292" r:id="rId7"/>
    <p:sldId id="263" r:id="rId8"/>
    <p:sldId id="264" r:id="rId9"/>
    <p:sldId id="265" r:id="rId10"/>
    <p:sldId id="283" r:id="rId11"/>
    <p:sldId id="270" r:id="rId12"/>
    <p:sldId id="284" r:id="rId13"/>
    <p:sldId id="267" r:id="rId14"/>
    <p:sldId id="285" r:id="rId15"/>
    <p:sldId id="286" r:id="rId16"/>
    <p:sldId id="268" r:id="rId17"/>
    <p:sldId id="269" r:id="rId18"/>
    <p:sldId id="273" r:id="rId19"/>
    <p:sldId id="287" r:id="rId20"/>
    <p:sldId id="274" r:id="rId21"/>
    <p:sldId id="288" r:id="rId22"/>
    <p:sldId id="275" r:id="rId23"/>
    <p:sldId id="276" r:id="rId24"/>
    <p:sldId id="289" r:id="rId25"/>
    <p:sldId id="277" r:id="rId26"/>
    <p:sldId id="290" r:id="rId27"/>
    <p:sldId id="279" r:id="rId28"/>
    <p:sldId id="278" r:id="rId29"/>
    <p:sldId id="280" r:id="rId30"/>
    <p:sldId id="281" r:id="rId31"/>
    <p:sldId id="282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8" clrIdx="0">
    <p:extLst>
      <p:ext uri="{19B8F6BF-5375-455C-9EA6-DF929625EA0E}">
        <p15:presenceInfo xmlns:p15="http://schemas.microsoft.com/office/powerpoint/2012/main" userId="LENOV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3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2B7B9B-B5A7-4D41-9A8D-579261902788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898E0-35D7-4F98-B104-2708A36FA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044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C4084DE2-E239-40FF-9702-4B85CFF9FB5C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616EA08A-5731-4F92-9237-CA9297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012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4DE2-E239-40FF-9702-4B85CFF9FB5C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A08A-5731-4F92-9237-CA9297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390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4DE2-E239-40FF-9702-4B85CFF9FB5C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A08A-5731-4F92-9237-CA9297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882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4DE2-E239-40FF-9702-4B85CFF9FB5C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A08A-5731-4F92-9237-CA9297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85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4DE2-E239-40FF-9702-4B85CFF9FB5C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A08A-5731-4F92-9237-CA9297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226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4DE2-E239-40FF-9702-4B85CFF9FB5C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A08A-5731-4F92-9237-CA9297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264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4DE2-E239-40FF-9702-4B85CFF9FB5C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A08A-5731-4F92-9237-CA9297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034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4DE2-E239-40FF-9702-4B85CFF9FB5C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A08A-5731-4F92-9237-CA9297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932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4DE2-E239-40FF-9702-4B85CFF9FB5C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A08A-5731-4F92-9237-CA9297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82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4DE2-E239-40FF-9702-4B85CFF9FB5C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A08A-5731-4F92-9237-CA9297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833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4DE2-E239-40FF-9702-4B85CFF9FB5C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A08A-5731-4F92-9237-CA9297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459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4DE2-E239-40FF-9702-4B85CFF9FB5C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A08A-5731-4F92-9237-CA9297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192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4DE2-E239-40FF-9702-4B85CFF9FB5C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A08A-5731-4F92-9237-CA9297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558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4DE2-E239-40FF-9702-4B85CFF9FB5C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A08A-5731-4F92-9237-CA9297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6027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4DE2-E239-40FF-9702-4B85CFF9FB5C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A08A-5731-4F92-9237-CA9297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045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C4084DE2-E239-40FF-9702-4B85CFF9FB5C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A08A-5731-4F92-9237-CA9297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1834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4084DE2-E239-40FF-9702-4B85CFF9FB5C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A08A-5731-4F92-9237-CA9297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440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4084DE2-E239-40FF-9702-4B85CFF9FB5C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16EA08A-5731-4F92-9237-CA9297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35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0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4.png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6.pn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8.png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png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2.png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4.png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6.png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8.png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9.jfif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0.jfif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1.jfif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8;p1">
            <a:extLst>
              <a:ext uri="{FF2B5EF4-FFF2-40B4-BE49-F238E27FC236}">
                <a16:creationId xmlns:a16="http://schemas.microsoft.com/office/drawing/2014/main" id="{50C0EC93-321A-BED3-137F-BA2BFB4C863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28337" y="0"/>
            <a:ext cx="123203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48F981-CEFD-0DE3-ABF9-46E78E10899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212507" y="4091590"/>
            <a:ext cx="7637463" cy="1244600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World Wide Energy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Consumption Analysis</a:t>
            </a:r>
            <a:br>
              <a:rPr lang="en-US" sz="1600" dirty="0"/>
            </a:br>
            <a:br>
              <a:rPr lang="en-US" b="1" dirty="0">
                <a:latin typeface="Arial Black" panose="020B0A04020102020204" pitchFamily="34" charset="0"/>
              </a:rPr>
            </a:br>
            <a:endParaRPr lang="en-IN" b="1" dirty="0">
              <a:latin typeface="Arial Black" panose="020B0A04020102020204" pitchFamily="34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4E12C04-59CB-79B6-6F12-96FB0CB58B7F}"/>
              </a:ext>
            </a:extLst>
          </p:cNvPr>
          <p:cNvSpPr/>
          <p:nvPr/>
        </p:nvSpPr>
        <p:spPr>
          <a:xfrm>
            <a:off x="2564693" y="48955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F8F9FA">
              <a:alpha val="80000"/>
            </a:srgbClr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2FC8BAE-73BD-BE08-479F-1A1A0CFF0935}"/>
              </a:ext>
            </a:extLst>
          </p:cNvPr>
          <p:cNvSpPr/>
          <p:nvPr/>
        </p:nvSpPr>
        <p:spPr>
          <a:xfrm>
            <a:off x="2860349" y="4857400"/>
            <a:ext cx="234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latin typeface="+mj-lt"/>
                <a:ea typeface="Liter" pitchFamily="34" charset="-122"/>
                <a:cs typeface="Liter" pitchFamily="34" charset="-120"/>
              </a:rPr>
              <a:t>Relational</a:t>
            </a:r>
            <a:r>
              <a:rPr lang="en-US" sz="1350" dirty="0"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350" dirty="0">
                <a:latin typeface="+mj-lt"/>
                <a:ea typeface="Liter" pitchFamily="34" charset="-122"/>
                <a:cs typeface="Liter" pitchFamily="34" charset="-120"/>
              </a:rPr>
              <a:t>Database Design</a:t>
            </a:r>
            <a:endParaRPr lang="en-US" sz="1600" dirty="0">
              <a:latin typeface="+mj-lt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AEE225D6-5A1F-160D-3B4F-E94E6AD9249F}"/>
              </a:ext>
            </a:extLst>
          </p:cNvPr>
          <p:cNvSpPr/>
          <p:nvPr/>
        </p:nvSpPr>
        <p:spPr>
          <a:xfrm>
            <a:off x="5742851" y="4876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8F9FA">
              <a:alpha val="80000"/>
            </a:srgbClr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A3A53E2-0908-E50B-6690-A77457A3B18F}"/>
              </a:ext>
            </a:extLst>
          </p:cNvPr>
          <p:cNvSpPr/>
          <p:nvPr/>
        </p:nvSpPr>
        <p:spPr>
          <a:xfrm>
            <a:off x="6001710" y="4852452"/>
            <a:ext cx="13432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latin typeface="+mj-lt"/>
                <a:ea typeface="Liter" pitchFamily="34" charset="-122"/>
                <a:cs typeface="Liter" pitchFamily="34" charset="-120"/>
              </a:rPr>
              <a:t>Data Analytics</a:t>
            </a:r>
            <a:endParaRPr lang="en-US" sz="1600" dirty="0">
              <a:latin typeface="+mj-lt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7103CC4C-CDA9-381E-4CBB-162254D4B376}"/>
              </a:ext>
            </a:extLst>
          </p:cNvPr>
          <p:cNvSpPr/>
          <p:nvPr/>
        </p:nvSpPr>
        <p:spPr>
          <a:xfrm>
            <a:off x="7832537" y="489055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F8F9FA">
              <a:alpha val="80000"/>
            </a:srgbClr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5B58C10B-C9C2-6DD0-775F-ECDEE13A8EA8}"/>
              </a:ext>
            </a:extLst>
          </p:cNvPr>
          <p:cNvSpPr/>
          <p:nvPr/>
        </p:nvSpPr>
        <p:spPr>
          <a:xfrm>
            <a:off x="7866904" y="4852452"/>
            <a:ext cx="22515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latin typeface="+mj-lt"/>
                <a:ea typeface="Liter" pitchFamily="34" charset="-122"/>
                <a:cs typeface="Liter" pitchFamily="34" charset="-120"/>
              </a:rPr>
              <a:t>Global Energy Insights</a:t>
            </a:r>
            <a:endParaRPr lang="en-US" sz="1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EA99AA-D530-D11F-D7FA-49171E09A4E3}"/>
              </a:ext>
            </a:extLst>
          </p:cNvPr>
          <p:cNvSpPr txBox="1"/>
          <p:nvPr/>
        </p:nvSpPr>
        <p:spPr>
          <a:xfrm>
            <a:off x="7790249" y="5278832"/>
            <a:ext cx="4119442" cy="1493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130000"/>
              </a:lnSpc>
              <a:buNone/>
            </a:pPr>
            <a:r>
              <a:rPr lang="en-US" b="1" dirty="0">
                <a:latin typeface="Liter" panose="020B0604020202020204" charset="0"/>
              </a:rPr>
              <a:t>Presented By:</a:t>
            </a:r>
          </a:p>
          <a:p>
            <a:pPr marL="0" algn="ctr" rtl="0" eaLnBrk="1" latinLnBrk="0" hangingPunct="1">
              <a:lnSpc>
                <a:spcPct val="130000"/>
              </a:lnSpc>
              <a:buNone/>
            </a:pPr>
            <a:r>
              <a:rPr lang="en-US" dirty="0">
                <a:effectLst/>
                <a:latin typeface="+mj-lt"/>
              </a:rPr>
              <a:t>Afrin </a:t>
            </a:r>
          </a:p>
          <a:p>
            <a:pPr marL="0" algn="ctr" rtl="0" eaLnBrk="1" latinLnBrk="0" hangingPunct="1">
              <a:lnSpc>
                <a:spcPct val="130000"/>
              </a:lnSpc>
              <a:buNone/>
            </a:pPr>
            <a:r>
              <a:rPr lang="en-US" dirty="0">
                <a:latin typeface="+mj-lt"/>
              </a:rPr>
              <a:t>K. Likhitha</a:t>
            </a:r>
          </a:p>
          <a:p>
            <a:pPr marL="0" algn="ctr" rtl="0" eaLnBrk="1" latinLnBrk="0" hangingPunct="1">
              <a:lnSpc>
                <a:spcPct val="130000"/>
              </a:lnSpc>
              <a:buNone/>
            </a:pPr>
            <a:r>
              <a:rPr lang="en-US" dirty="0">
                <a:effectLst/>
                <a:latin typeface="+mj-lt"/>
              </a:rPr>
              <a:t>K. Aishwarya</a:t>
            </a:r>
            <a:endParaRPr lang="en-IN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33109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A16A7D-875B-3A17-6FF0-CB75833AD5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  <p:pic>
        <p:nvPicPr>
          <p:cNvPr id="1028" name="Picture 4" descr="Infographic of energy consumption by source. Nonrenewable energy like oil, gas, coal, nuclear. Renewable energy sources like hydropower, solar, wind, geothermal. Electricity generation flat vector">
            <a:extLst>
              <a:ext uri="{FF2B5EF4-FFF2-40B4-BE49-F238E27FC236}">
                <a16:creationId xmlns:a16="http://schemas.microsoft.com/office/drawing/2014/main" id="{39318307-26FE-5825-1FA2-FD9BBEA33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327500"/>
            <a:ext cx="5577860" cy="3758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9AA09DB-121B-161B-4C30-C48AA6F33D7E}"/>
              </a:ext>
            </a:extLst>
          </p:cNvPr>
          <p:cNvSpPr/>
          <p:nvPr/>
        </p:nvSpPr>
        <p:spPr>
          <a:xfrm>
            <a:off x="901262" y="709153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chemeClr val="bg1"/>
                </a:solidFill>
                <a:latin typeface="+mj-lt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20C1B18-643A-FAD6-1F64-445708E66C30}"/>
              </a:ext>
            </a:extLst>
          </p:cNvPr>
          <p:cNvSpPr/>
          <p:nvPr/>
        </p:nvSpPr>
        <p:spPr>
          <a:xfrm>
            <a:off x="825062" y="1182828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chemeClr val="bg1"/>
                </a:solidFill>
                <a:latin typeface="Century Gothic" panose="020B0502020202020204" pitchFamily="34" charset="0"/>
                <a:ea typeface="Liter" pitchFamily="34" charset="-122"/>
                <a:cs typeface="Liter" pitchFamily="34" charset="-120"/>
              </a:rPr>
              <a:t>Project Introduction</a:t>
            </a:r>
            <a:endParaRPr lang="en-US" sz="16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57D95126-DE55-8079-3828-7E336ADB7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522" y="1999403"/>
            <a:ext cx="1223099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worldwide energy consumption 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production trends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Study the relationship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GDP, population,</a:t>
            </a: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and emissions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 analysis 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comparisons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Understand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energy patterns over time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Derive insights about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economic 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environmental impact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463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2F9BD-28DE-872A-247D-039E9D98C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120" y="973668"/>
            <a:ext cx="8761413" cy="706964"/>
          </a:xfrm>
        </p:spPr>
        <p:txBody>
          <a:bodyPr/>
          <a:lstStyle/>
          <a:p>
            <a:r>
              <a:rPr lang="en-US" b="1" dirty="0"/>
              <a:t>⚠️ Problem Statement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C29F16-A481-17D0-A740-C68E55591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319" y="2388457"/>
            <a:ext cx="1135439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main problem addressed in this project is to understand 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 consumption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 production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GDP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emissions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interconnected across different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countries and years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aims to identify: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countries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energy usage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emission trends over time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relationship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GDP and energy demand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production vs consumption differences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impact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population growth on energy usage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B94331C-BA49-3EAD-DED2-F4FB927EAD0B}"/>
              </a:ext>
            </a:extLst>
          </p:cNvPr>
          <p:cNvSpPr/>
          <p:nvPr/>
        </p:nvSpPr>
        <p:spPr>
          <a:xfrm>
            <a:off x="6667500" y="3303184"/>
            <a:ext cx="4122682" cy="2703787"/>
          </a:xfrm>
          <a:prstGeom prst="roundRect">
            <a:avLst/>
          </a:prstGeom>
          <a:effectLst>
            <a:outerShdw blurRad="50800" dist="50800" dir="5400000" algn="ctr" rotWithShape="0">
              <a:schemeClr val="accent1">
                <a:lumMod val="60000"/>
                <a:lumOff val="40000"/>
                <a:alpha val="7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1" name="Picture 3" descr="Toxic smoke from industrial factories in air. Global emission from chimney with carbon dioxide">
            <a:extLst>
              <a:ext uri="{FF2B5EF4-FFF2-40B4-BE49-F238E27FC236}">
                <a16:creationId xmlns:a16="http://schemas.microsoft.com/office/drawing/2014/main" id="{295A57B6-89C2-8865-2575-E56FCAF31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1" y="3429001"/>
            <a:ext cx="3895724" cy="2455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2B4A61-6964-90D8-FAF8-0413A4FDF2E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679099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92F7F-501C-D4B6-4FA8-BD3721ABD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80" y="965646"/>
            <a:ext cx="8761413" cy="706964"/>
          </a:xfrm>
        </p:spPr>
        <p:txBody>
          <a:bodyPr/>
          <a:lstStyle/>
          <a:p>
            <a:r>
              <a:rPr lang="en-IN" b="1" dirty="0"/>
              <a:t>🎯 PROJECT OBJECTIVES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7DAC3BA-D4C2-243B-0D3B-93F1FBB7476B}"/>
              </a:ext>
            </a:extLst>
          </p:cNvPr>
          <p:cNvSpPr/>
          <p:nvPr/>
        </p:nvSpPr>
        <p:spPr>
          <a:xfrm>
            <a:off x="395381" y="2703095"/>
            <a:ext cx="3344779" cy="1580147"/>
          </a:xfrm>
          <a:prstGeom prst="roundRect">
            <a:avLst/>
          </a:prstGeom>
          <a:effectLst>
            <a:outerShdw blurRad="50800" dist="50800" dir="5400000" algn="ctr" rotWithShape="0">
              <a:schemeClr val="accent1">
                <a:lumMod val="60000"/>
                <a:lumOff val="40000"/>
                <a:alpha val="7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160CA27-81EF-CC91-92C4-FE5F0B77C558}"/>
              </a:ext>
            </a:extLst>
          </p:cNvPr>
          <p:cNvSpPr/>
          <p:nvPr/>
        </p:nvSpPr>
        <p:spPr>
          <a:xfrm>
            <a:off x="5278986" y="4698746"/>
            <a:ext cx="3344779" cy="1580147"/>
          </a:xfrm>
          <a:prstGeom prst="roundRect">
            <a:avLst/>
          </a:prstGeom>
          <a:effectLst>
            <a:outerShdw blurRad="50800" dist="50800" dir="5400000" algn="ctr" rotWithShape="0">
              <a:schemeClr val="accent1">
                <a:lumMod val="60000"/>
                <a:lumOff val="40000"/>
                <a:alpha val="7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89DBCC-BD68-A15A-2FC4-F9AC3A68CA0E}"/>
              </a:ext>
            </a:extLst>
          </p:cNvPr>
          <p:cNvSpPr/>
          <p:nvPr/>
        </p:nvSpPr>
        <p:spPr>
          <a:xfrm>
            <a:off x="4184217" y="2703095"/>
            <a:ext cx="3344779" cy="1580147"/>
          </a:xfrm>
          <a:prstGeom prst="roundRect">
            <a:avLst/>
          </a:prstGeom>
          <a:effectLst>
            <a:outerShdw blurRad="50800" dist="50800" dir="5400000" algn="ctr" rotWithShape="0">
              <a:schemeClr val="accent1">
                <a:lumMod val="60000"/>
                <a:lumOff val="40000"/>
                <a:alpha val="7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9DF4D74-3C82-EAFE-D63F-EA63C8D7BAB3}"/>
              </a:ext>
            </a:extLst>
          </p:cNvPr>
          <p:cNvSpPr/>
          <p:nvPr/>
        </p:nvSpPr>
        <p:spPr>
          <a:xfrm>
            <a:off x="1392513" y="4687890"/>
            <a:ext cx="3344779" cy="1580147"/>
          </a:xfrm>
          <a:prstGeom prst="roundRect">
            <a:avLst/>
          </a:prstGeom>
          <a:effectLst>
            <a:outerShdw blurRad="50800" dist="50800" dir="5400000" algn="ctr" rotWithShape="0">
              <a:schemeClr val="accent1">
                <a:lumMod val="60000"/>
                <a:lumOff val="40000"/>
                <a:alpha val="7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D69E6051-B249-6A13-8627-E74105BB37EE}"/>
              </a:ext>
            </a:extLst>
          </p:cNvPr>
          <p:cNvSpPr/>
          <p:nvPr/>
        </p:nvSpPr>
        <p:spPr>
          <a:xfrm>
            <a:off x="461935" y="2808338"/>
            <a:ext cx="3211669" cy="1369660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📊 </a:t>
            </a:r>
            <a:r>
              <a:rPr lang="en-IN" b="1" dirty="0" err="1">
                <a:solidFill>
                  <a:schemeClr val="bg1"/>
                </a:solidFill>
              </a:rPr>
              <a:t>Analyze</a:t>
            </a:r>
            <a:r>
              <a:rPr lang="en-IN" b="1" dirty="0">
                <a:solidFill>
                  <a:schemeClr val="bg1"/>
                </a:solidFill>
              </a:rPr>
              <a:t> Trends</a:t>
            </a:r>
          </a:p>
          <a:p>
            <a:endParaRPr lang="en-IN" sz="1000" dirty="0"/>
          </a:p>
          <a:p>
            <a:r>
              <a:rPr lang="en-US" dirty="0">
                <a:solidFill>
                  <a:schemeClr val="bg1"/>
                </a:solidFill>
              </a:rPr>
              <a:t>Study global energy consumption and production trends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B615D7FE-D090-9145-2522-52AD8D5C6FF0}"/>
              </a:ext>
            </a:extLst>
          </p:cNvPr>
          <p:cNvSpPr/>
          <p:nvPr/>
        </p:nvSpPr>
        <p:spPr>
          <a:xfrm>
            <a:off x="4265608" y="2808338"/>
            <a:ext cx="3211669" cy="1369660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🌍 Compare Countries</a:t>
            </a:r>
            <a:endParaRPr lang="en-IN" sz="1000" b="1" dirty="0">
              <a:solidFill>
                <a:schemeClr val="bg1"/>
              </a:solidFill>
            </a:endParaRPr>
          </a:p>
          <a:p>
            <a:endParaRPr lang="en-US" sz="1000" dirty="0"/>
          </a:p>
          <a:p>
            <a:r>
              <a:rPr lang="en-US" dirty="0">
                <a:solidFill>
                  <a:schemeClr val="bg1"/>
                </a:solidFill>
              </a:rPr>
              <a:t>Compare country-wise and year-wise energy usage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AC8BF825-288F-4607-25DA-E77DA0D94127}"/>
              </a:ext>
            </a:extLst>
          </p:cNvPr>
          <p:cNvSpPr/>
          <p:nvPr/>
        </p:nvSpPr>
        <p:spPr>
          <a:xfrm>
            <a:off x="1459067" y="4793133"/>
            <a:ext cx="3211669" cy="1369660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💰 Study GDP Impact</a:t>
            </a:r>
          </a:p>
          <a:p>
            <a:endParaRPr lang="en-IN" sz="900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Understand relationship between GDP and energy demand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75FC0DC2-4495-BE9C-AC62-6D1A1B8E6799}"/>
              </a:ext>
            </a:extLst>
          </p:cNvPr>
          <p:cNvSpPr/>
          <p:nvPr/>
        </p:nvSpPr>
        <p:spPr>
          <a:xfrm>
            <a:off x="5345540" y="4823140"/>
            <a:ext cx="3211669" cy="1369660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🌫 Emission Analysis</a:t>
            </a:r>
          </a:p>
          <a:p>
            <a:endParaRPr lang="en-IN" sz="1000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Identify countries with highest emissions and trends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3B1A3E6-0A6B-4F26-5DA5-5AC9F53D8310}"/>
              </a:ext>
            </a:extLst>
          </p:cNvPr>
          <p:cNvSpPr/>
          <p:nvPr/>
        </p:nvSpPr>
        <p:spPr>
          <a:xfrm>
            <a:off x="7973052" y="2703095"/>
            <a:ext cx="3344779" cy="1580147"/>
          </a:xfrm>
          <a:prstGeom prst="roundRect">
            <a:avLst/>
          </a:prstGeom>
          <a:effectLst>
            <a:outerShdw blurRad="50800" dist="50800" dir="5400000" algn="ctr" rotWithShape="0">
              <a:schemeClr val="accent1">
                <a:lumMod val="60000"/>
                <a:lumOff val="40000"/>
                <a:alpha val="7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23978948-FE0C-84D0-AA1F-7820D9F1B04F}"/>
              </a:ext>
            </a:extLst>
          </p:cNvPr>
          <p:cNvSpPr/>
          <p:nvPr/>
        </p:nvSpPr>
        <p:spPr>
          <a:xfrm>
            <a:off x="8039606" y="2808338"/>
            <a:ext cx="3211669" cy="1369660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👥 Population Impact</a:t>
            </a:r>
          </a:p>
          <a:p>
            <a:endParaRPr lang="en-IN" sz="1000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Analyze how population growth affects energy demand and emissions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F9D768-2989-C3BC-381D-20E356045B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14168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355459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0657F-0F9C-993A-3889-E09E308F5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A0EAA-B3DA-7153-C937-51202EE6E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871" y="1113790"/>
            <a:ext cx="8761413" cy="706964"/>
          </a:xfrm>
        </p:spPr>
        <p:txBody>
          <a:bodyPr/>
          <a:lstStyle/>
          <a:p>
            <a:r>
              <a:rPr lang="en-IN" b="1" dirty="0"/>
              <a:t>🗂 DATASET OVERVIEW</a:t>
            </a:r>
            <a:endParaRPr lang="en-IN" sz="32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C1F12A-5C2F-6A01-9C7E-B735E5AB67C3}"/>
              </a:ext>
            </a:extLst>
          </p:cNvPr>
          <p:cNvSpPr txBox="1"/>
          <p:nvPr/>
        </p:nvSpPr>
        <p:spPr>
          <a:xfrm>
            <a:off x="341493" y="2451235"/>
            <a:ext cx="17513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🌍 country_3</a:t>
            </a:r>
          </a:p>
          <a:p>
            <a:r>
              <a:rPr lang="en-US" sz="1500" dirty="0"/>
              <a:t>Master table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4CAD78-C664-789C-AFF2-969338DA4929}"/>
              </a:ext>
            </a:extLst>
          </p:cNvPr>
          <p:cNvSpPr txBox="1"/>
          <p:nvPr/>
        </p:nvSpPr>
        <p:spPr>
          <a:xfrm>
            <a:off x="3265479" y="2451235"/>
            <a:ext cx="33327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⚡ consum_3</a:t>
            </a:r>
          </a:p>
          <a:p>
            <a:r>
              <a:rPr lang="en-US" sz="1500" dirty="0"/>
              <a:t>Stores energy consumption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531A2F-260E-1981-ED7E-FD8BBACFEC43}"/>
              </a:ext>
            </a:extLst>
          </p:cNvPr>
          <p:cNvSpPr txBox="1"/>
          <p:nvPr/>
        </p:nvSpPr>
        <p:spPr>
          <a:xfrm>
            <a:off x="8040414" y="2451235"/>
            <a:ext cx="329258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/>
              <a:t>🏭 production_3</a:t>
            </a:r>
          </a:p>
          <a:p>
            <a:r>
              <a:rPr lang="en-IN" sz="1500" dirty="0"/>
              <a:t>Stores energy production values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966D22-D509-F52F-9241-3EDE2303354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51CC10-2333-216B-DC7A-55354D728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493" y="3024286"/>
            <a:ext cx="2275582" cy="30960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3F5734-45EB-4ADC-5F7C-46B0A261AA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6294" y="3014759"/>
            <a:ext cx="4124901" cy="311511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1E3CA95-97F6-729B-3DBF-38FA355C25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0414" y="3005233"/>
            <a:ext cx="4039164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400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FC1F-D518-C7A5-A112-897962E95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70065AB2-8D42-467F-5593-9EBEA35A4C94}"/>
              </a:ext>
            </a:extLst>
          </p:cNvPr>
          <p:cNvSpPr txBox="1"/>
          <p:nvPr/>
        </p:nvSpPr>
        <p:spPr>
          <a:xfrm>
            <a:off x="2847527" y="2861467"/>
            <a:ext cx="267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/>
              <a:t>💰 gdp_3</a:t>
            </a:r>
          </a:p>
          <a:p>
            <a:r>
              <a:rPr lang="en-IN" sz="1500" dirty="0"/>
              <a:t>Stores GDP values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F060CF-71F3-C681-3491-3285E1FE3DBF}"/>
              </a:ext>
            </a:extLst>
          </p:cNvPr>
          <p:cNvSpPr txBox="1"/>
          <p:nvPr/>
        </p:nvSpPr>
        <p:spPr>
          <a:xfrm>
            <a:off x="0" y="759441"/>
            <a:ext cx="267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/>
              <a:t>👥 population_3</a:t>
            </a:r>
          </a:p>
          <a:p>
            <a:r>
              <a:rPr lang="fr-FR" sz="1500" dirty="0"/>
              <a:t>Stores population data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455D86-D047-556F-9588-5058AD59FA76}"/>
              </a:ext>
            </a:extLst>
          </p:cNvPr>
          <p:cNvSpPr txBox="1"/>
          <p:nvPr/>
        </p:nvSpPr>
        <p:spPr>
          <a:xfrm>
            <a:off x="5722994" y="707101"/>
            <a:ext cx="31628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🌫 emission_3</a:t>
            </a:r>
          </a:p>
          <a:p>
            <a:r>
              <a:rPr lang="en-US" sz="1500" dirty="0"/>
              <a:t>Stores country-wise emissions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869305-26EA-3CEE-3CF5-A4745272A15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3BEBC9-DF37-CA66-0FE9-0E728C74D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5054" y="1313439"/>
            <a:ext cx="6420746" cy="30960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9347E4-8BF7-BAE9-34BE-CD5E684D51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6362" y="3441355"/>
            <a:ext cx="2724530" cy="30960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E36CE82-C41C-25CB-E7C5-55305AC49C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70" y="1414066"/>
            <a:ext cx="2724530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087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AFD1F-5EE0-6E86-F8C2-7A94066E1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293788A8-7830-0F1E-228E-F3A959AB1BBE}"/>
              </a:ext>
            </a:extLst>
          </p:cNvPr>
          <p:cNvSpPr/>
          <p:nvPr/>
        </p:nvSpPr>
        <p:spPr>
          <a:xfrm>
            <a:off x="833083" y="1025924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IN" sz="3200" dirty="0"/>
              <a:t>🔗</a:t>
            </a:r>
            <a:r>
              <a:rPr lang="en-IN" sz="3200" b="1" dirty="0">
                <a:solidFill>
                  <a:schemeClr val="bg1"/>
                </a:solidFill>
              </a:rPr>
              <a:t> ENTITY RELATIONSHIP DIAGRAM (ER DIAGRAM)</a:t>
            </a:r>
            <a:endParaRPr lang="en-US" sz="1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0A13B5-4B3B-8CE9-10AE-80A350F795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9000"/>
              </a:srgbClr>
            </a:outerShdw>
            <a:softEdge rad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FF9FBA1-7913-6219-0FEC-6D3C29710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77" y="2400782"/>
            <a:ext cx="8534401" cy="4342011"/>
          </a:xfrm>
          <a:prstGeom prst="rect">
            <a:avLst/>
          </a:prstGeom>
        </p:spPr>
      </p:pic>
      <p:sp>
        <p:nvSpPr>
          <p:cNvPr id="6" name="Shape 1">
            <a:extLst>
              <a:ext uri="{FF2B5EF4-FFF2-40B4-BE49-F238E27FC236}">
                <a16:creationId xmlns:a16="http://schemas.microsoft.com/office/drawing/2014/main" id="{4865868F-41BE-D89A-33DB-F345B353DBC6}"/>
              </a:ext>
            </a:extLst>
          </p:cNvPr>
          <p:cNvSpPr/>
          <p:nvPr/>
        </p:nvSpPr>
        <p:spPr>
          <a:xfrm>
            <a:off x="9254359" y="2624757"/>
            <a:ext cx="2640724" cy="3211742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400" b="1" dirty="0"/>
              <a:t>🔗 Key Insights</a:t>
            </a:r>
          </a:p>
          <a:p>
            <a:endParaRPr lang="en-US" sz="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country_3 acts as the </a:t>
            </a:r>
            <a:r>
              <a:rPr lang="en-US" sz="1400" b="1" dirty="0"/>
              <a:t>central master table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All other tables are linked using </a:t>
            </a:r>
            <a:r>
              <a:rPr lang="en-US" sz="1400" b="1" dirty="0"/>
              <a:t>country and year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Enables easy joins for comparative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Supports GDP, population, emission, production, and consumption insights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Improves data consistency and relationship mapping</a:t>
            </a:r>
          </a:p>
          <a:p>
            <a:endParaRPr lang="en-US" sz="14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5665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78059-1E05-0BE1-69B5-79DD059F1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AAF1F87B-EAC9-1CB6-774A-068A73BCF0DB}"/>
              </a:ext>
            </a:extLst>
          </p:cNvPr>
          <p:cNvSpPr/>
          <p:nvPr/>
        </p:nvSpPr>
        <p:spPr>
          <a:xfrm>
            <a:off x="825062" y="1182828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IN" sz="3600" b="1" dirty="0">
                <a:solidFill>
                  <a:schemeClr val="bg1"/>
                </a:solidFill>
              </a:rPr>
              <a:t>📊 DATA ANALYSIS FRAMEWORK</a:t>
            </a:r>
            <a:endParaRPr lang="en-US" sz="16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4C3AA20-C4DF-BEC7-90AD-291B93A0B257}"/>
              </a:ext>
            </a:extLst>
          </p:cNvPr>
          <p:cNvSpPr/>
          <p:nvPr/>
        </p:nvSpPr>
        <p:spPr>
          <a:xfrm>
            <a:off x="685548" y="2305914"/>
            <a:ext cx="3344779" cy="2357771"/>
          </a:xfrm>
          <a:prstGeom prst="roundRect">
            <a:avLst/>
          </a:prstGeom>
          <a:effectLst>
            <a:outerShdw blurRad="50800" dist="50800" dir="5400000" algn="ctr" rotWithShape="0">
              <a:schemeClr val="accent1">
                <a:lumMod val="60000"/>
                <a:lumOff val="40000"/>
                <a:alpha val="7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F9272D05-0088-1404-E396-8B2CB48BE44F}"/>
              </a:ext>
            </a:extLst>
          </p:cNvPr>
          <p:cNvSpPr/>
          <p:nvPr/>
        </p:nvSpPr>
        <p:spPr>
          <a:xfrm>
            <a:off x="752102" y="2387752"/>
            <a:ext cx="3211669" cy="2147325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IN" sz="1600" b="1" dirty="0">
                <a:solidFill>
                  <a:schemeClr val="bg1"/>
                </a:solidFill>
              </a:rPr>
              <a:t>🌍 1. General &amp; Comparative Analysis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Purpose:</a:t>
            </a:r>
            <a:r>
              <a:rPr lang="en-US" sz="1400" dirty="0">
                <a:solidFill>
                  <a:schemeClr val="bg1"/>
                </a:solidFill>
              </a:rPr>
              <a:t> Compare countries and metrics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Includes questions like:</a:t>
            </a:r>
          </a:p>
          <a:p>
            <a:r>
              <a:rPr lang="en-US" sz="1400" dirty="0">
                <a:solidFill>
                  <a:schemeClr val="bg1"/>
                </a:solidFill>
              </a:rPr>
              <a:t>total emission per country </a:t>
            </a:r>
          </a:p>
          <a:p>
            <a:r>
              <a:rPr lang="en-US" sz="1400" dirty="0">
                <a:solidFill>
                  <a:schemeClr val="bg1"/>
                </a:solidFill>
              </a:rPr>
              <a:t>top GDP countries </a:t>
            </a:r>
          </a:p>
          <a:p>
            <a:r>
              <a:rPr lang="en-US" sz="1400" dirty="0">
                <a:solidFill>
                  <a:schemeClr val="bg1"/>
                </a:solidFill>
              </a:rPr>
              <a:t>production vs consumption </a:t>
            </a:r>
          </a:p>
          <a:p>
            <a:r>
              <a:rPr lang="en-US" sz="1400" dirty="0">
                <a:solidFill>
                  <a:schemeClr val="bg1"/>
                </a:solidFill>
              </a:rPr>
              <a:t>energy types causing emissions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F6A6B33-947A-91EB-515E-DE16260C4A38}"/>
              </a:ext>
            </a:extLst>
          </p:cNvPr>
          <p:cNvSpPr/>
          <p:nvPr/>
        </p:nvSpPr>
        <p:spPr>
          <a:xfrm>
            <a:off x="685546" y="4780628"/>
            <a:ext cx="3344779" cy="2055845"/>
          </a:xfrm>
          <a:prstGeom prst="roundRect">
            <a:avLst/>
          </a:prstGeom>
          <a:effectLst>
            <a:outerShdw blurRad="50800" dist="50800" dir="5400000" algn="ctr" rotWithShape="0">
              <a:schemeClr val="accent1">
                <a:lumMod val="60000"/>
                <a:lumOff val="40000"/>
                <a:alpha val="7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7E3A4427-CFEB-5C8C-98FA-B99E9E37F48B}"/>
              </a:ext>
            </a:extLst>
          </p:cNvPr>
          <p:cNvSpPr/>
          <p:nvPr/>
        </p:nvSpPr>
        <p:spPr>
          <a:xfrm>
            <a:off x="752100" y="4871916"/>
            <a:ext cx="3211669" cy="1868769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600" b="1" dirty="0">
                <a:solidFill>
                  <a:schemeClr val="bg1"/>
                </a:solidFill>
              </a:rPr>
              <a:t>📈 2. Trend Analysis Over Time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Purpose:</a:t>
            </a:r>
            <a:r>
              <a:rPr lang="en-US" sz="1400" dirty="0">
                <a:solidFill>
                  <a:schemeClr val="bg1"/>
                </a:solidFill>
              </a:rPr>
              <a:t> Study yearly changes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Includes:</a:t>
            </a:r>
          </a:p>
          <a:p>
            <a:r>
              <a:rPr lang="en-US" sz="1400" dirty="0">
                <a:solidFill>
                  <a:schemeClr val="bg1"/>
                </a:solidFill>
              </a:rPr>
              <a:t>emission growth over years </a:t>
            </a:r>
          </a:p>
          <a:p>
            <a:r>
              <a:rPr lang="en-US" sz="1400" dirty="0">
                <a:solidFill>
                  <a:schemeClr val="bg1"/>
                </a:solidFill>
              </a:rPr>
              <a:t>GDP trend </a:t>
            </a:r>
          </a:p>
          <a:p>
            <a:r>
              <a:rPr lang="en-US" sz="1400" dirty="0">
                <a:solidFill>
                  <a:schemeClr val="bg1"/>
                </a:solidFill>
              </a:rPr>
              <a:t>population impact </a:t>
            </a:r>
          </a:p>
          <a:p>
            <a:r>
              <a:rPr lang="en-US" sz="1400" dirty="0">
                <a:solidFill>
                  <a:schemeClr val="bg1"/>
                </a:solidFill>
              </a:rPr>
              <a:t>yearly energy consumption changes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FAE235-F4C1-2FC5-1AA2-1361E2E409EA}"/>
              </a:ext>
            </a:extLst>
          </p:cNvPr>
          <p:cNvSpPr/>
          <p:nvPr/>
        </p:nvSpPr>
        <p:spPr>
          <a:xfrm>
            <a:off x="5294793" y="2305914"/>
            <a:ext cx="3344779" cy="2246171"/>
          </a:xfrm>
          <a:prstGeom prst="roundRect">
            <a:avLst/>
          </a:prstGeom>
          <a:effectLst>
            <a:outerShdw blurRad="50800" dist="50800" dir="5400000" algn="ctr" rotWithShape="0">
              <a:schemeClr val="accent1">
                <a:lumMod val="60000"/>
                <a:lumOff val="40000"/>
                <a:alpha val="7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C4C5C1CC-8034-9E42-0A62-D0B6DDFED165}"/>
              </a:ext>
            </a:extLst>
          </p:cNvPr>
          <p:cNvSpPr/>
          <p:nvPr/>
        </p:nvSpPr>
        <p:spPr>
          <a:xfrm>
            <a:off x="5361347" y="2375583"/>
            <a:ext cx="3211669" cy="2049584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IN" sz="1600" b="1" dirty="0">
                <a:solidFill>
                  <a:schemeClr val="bg1"/>
                </a:solidFill>
              </a:rPr>
              <a:t>📊 3. Ratio &amp; Per Capita Analysis</a:t>
            </a:r>
          </a:p>
          <a:p>
            <a:r>
              <a:rPr lang="en-IN" sz="1400" b="1" dirty="0">
                <a:solidFill>
                  <a:schemeClr val="bg1"/>
                </a:solidFill>
              </a:rPr>
              <a:t>Purpose:</a:t>
            </a:r>
            <a:r>
              <a:rPr lang="en-IN" sz="1400" dirty="0">
                <a:solidFill>
                  <a:schemeClr val="bg1"/>
                </a:solidFill>
              </a:rPr>
              <a:t> Compare normalized metrics</a:t>
            </a:r>
          </a:p>
          <a:p>
            <a:r>
              <a:rPr lang="en-IN" sz="1400" b="1" dirty="0">
                <a:solidFill>
                  <a:schemeClr val="bg1"/>
                </a:solidFill>
              </a:rPr>
              <a:t>Includes:</a:t>
            </a:r>
          </a:p>
          <a:p>
            <a:r>
              <a:rPr lang="en-IN" sz="1400" dirty="0">
                <a:solidFill>
                  <a:schemeClr val="bg1"/>
                </a:solidFill>
              </a:rPr>
              <a:t>emission-to-GDP ratio </a:t>
            </a:r>
          </a:p>
          <a:p>
            <a:r>
              <a:rPr lang="en-IN" sz="1400" dirty="0">
                <a:solidFill>
                  <a:schemeClr val="bg1"/>
                </a:solidFill>
              </a:rPr>
              <a:t>per capita energy usage </a:t>
            </a:r>
          </a:p>
          <a:p>
            <a:r>
              <a:rPr lang="en-IN" sz="1400" dirty="0">
                <a:solidFill>
                  <a:schemeClr val="bg1"/>
                </a:solidFill>
              </a:rPr>
              <a:t>production per person </a:t>
            </a:r>
          </a:p>
          <a:p>
            <a:r>
              <a:rPr lang="en-IN" sz="1400" dirty="0">
                <a:solidFill>
                  <a:schemeClr val="bg1"/>
                </a:solidFill>
              </a:rPr>
              <a:t>GDP vs energy demand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9EFF4CE-4B08-9AF6-4598-3A3116CAD1F2}"/>
              </a:ext>
            </a:extLst>
          </p:cNvPr>
          <p:cNvSpPr/>
          <p:nvPr/>
        </p:nvSpPr>
        <p:spPr>
          <a:xfrm>
            <a:off x="5294791" y="4778377"/>
            <a:ext cx="3344779" cy="2055845"/>
          </a:xfrm>
          <a:prstGeom prst="roundRect">
            <a:avLst/>
          </a:prstGeom>
          <a:effectLst>
            <a:outerShdw blurRad="50800" dist="50800" dir="5400000" algn="ctr" rotWithShape="0">
              <a:schemeClr val="accent1">
                <a:lumMod val="60000"/>
                <a:lumOff val="40000"/>
                <a:alpha val="7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4A169472-CC8E-A71D-63DC-6E7548D0FE22}"/>
              </a:ext>
            </a:extLst>
          </p:cNvPr>
          <p:cNvSpPr/>
          <p:nvPr/>
        </p:nvSpPr>
        <p:spPr>
          <a:xfrm>
            <a:off x="5361347" y="4876557"/>
            <a:ext cx="3211669" cy="1893240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600" b="1" dirty="0">
                <a:solidFill>
                  <a:schemeClr val="bg1"/>
                </a:solidFill>
              </a:rPr>
              <a:t>🌎 4. Global Comparisons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Purpose:</a:t>
            </a:r>
            <a:r>
              <a:rPr lang="en-US" sz="1400" dirty="0">
                <a:solidFill>
                  <a:schemeClr val="bg1"/>
                </a:solidFill>
              </a:rPr>
              <a:t> Worldwide ranking and benchmarking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Includes:</a:t>
            </a:r>
          </a:p>
          <a:p>
            <a:r>
              <a:rPr lang="en-US" sz="1400" dirty="0">
                <a:solidFill>
                  <a:schemeClr val="bg1"/>
                </a:solidFill>
              </a:rPr>
              <a:t>top 10 population countries </a:t>
            </a:r>
          </a:p>
          <a:p>
            <a:r>
              <a:rPr lang="en-US" sz="1400" dirty="0">
                <a:solidFill>
                  <a:schemeClr val="bg1"/>
                </a:solidFill>
              </a:rPr>
              <a:t>emission share % </a:t>
            </a:r>
          </a:p>
          <a:p>
            <a:r>
              <a:rPr lang="en-US" sz="1400" dirty="0">
                <a:solidFill>
                  <a:schemeClr val="bg1"/>
                </a:solidFill>
              </a:rPr>
              <a:t>global averages </a:t>
            </a:r>
          </a:p>
          <a:p>
            <a:r>
              <a:rPr lang="en-US" sz="1400" dirty="0">
                <a:solidFill>
                  <a:schemeClr val="bg1"/>
                </a:solidFill>
              </a:rPr>
              <a:t>best emission reduction countries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22B772-D1B7-883D-970D-3111F69D81E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000557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5862C-4E1B-5870-1167-CF22B9225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DF554DC0-5F9E-B41A-8D9F-71B5A8F97DD4}"/>
              </a:ext>
            </a:extLst>
          </p:cNvPr>
          <p:cNvSpPr/>
          <p:nvPr/>
        </p:nvSpPr>
        <p:spPr>
          <a:xfrm>
            <a:off x="533400" y="687847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IN" sz="3600" dirty="0"/>
              <a:t>🌍</a:t>
            </a:r>
            <a:r>
              <a:rPr lang="en-IN" sz="3600" b="1" dirty="0">
                <a:solidFill>
                  <a:schemeClr val="bg1"/>
                </a:solidFill>
              </a:rPr>
              <a:t>GENERAL &amp; COMPARATIVE ANALYSIS</a:t>
            </a:r>
            <a:endParaRPr lang="en-US" sz="16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37256-3590-8963-634B-67D53CD1F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67" y="2754964"/>
            <a:ext cx="4229690" cy="1857634"/>
          </a:xfrm>
          <a:prstGeom prst="rect">
            <a:avLst/>
          </a:prstGeom>
        </p:spPr>
      </p:pic>
      <p:sp>
        <p:nvSpPr>
          <p:cNvPr id="28" name="Shape 1">
            <a:extLst>
              <a:ext uri="{FF2B5EF4-FFF2-40B4-BE49-F238E27FC236}">
                <a16:creationId xmlns:a16="http://schemas.microsoft.com/office/drawing/2014/main" id="{0FED6244-9C41-4AD3-BECA-DB703A5D06D9}"/>
              </a:ext>
            </a:extLst>
          </p:cNvPr>
          <p:cNvSpPr/>
          <p:nvPr/>
        </p:nvSpPr>
        <p:spPr>
          <a:xfrm>
            <a:off x="6851379" y="2588628"/>
            <a:ext cx="1868992" cy="367521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600" b="1" dirty="0"/>
              <a:t>Output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EFA70E-759D-EED2-5897-E0EBE546CD3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  <p:sp>
        <p:nvSpPr>
          <p:cNvPr id="8" name="Shape 1">
            <a:extLst>
              <a:ext uri="{FF2B5EF4-FFF2-40B4-BE49-F238E27FC236}">
                <a16:creationId xmlns:a16="http://schemas.microsoft.com/office/drawing/2014/main" id="{094A1606-5142-F488-ABCE-E66183A745DB}"/>
              </a:ext>
            </a:extLst>
          </p:cNvPr>
          <p:cNvSpPr/>
          <p:nvPr/>
        </p:nvSpPr>
        <p:spPr>
          <a:xfrm>
            <a:off x="305606" y="4834616"/>
            <a:ext cx="5302521" cy="1068007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400" b="1" dirty="0"/>
              <a:t>📌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China has the highest emissions</a:t>
            </a:r>
            <a:r>
              <a:rPr lang="en-US" sz="1400" dirty="0"/>
              <a:t> among all countries.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USA and India follow next</a:t>
            </a:r>
            <a:r>
              <a:rPr lang="en-US" sz="1400" dirty="0"/>
              <a:t>, showing major energy usage.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Higher industrial activity leads to </a:t>
            </a:r>
            <a:r>
              <a:rPr lang="en-US" sz="1400" b="1" dirty="0"/>
              <a:t>more emissions</a:t>
            </a:r>
            <a:r>
              <a:rPr lang="en-US" sz="1400" dirty="0"/>
              <a:t>.</a:t>
            </a:r>
          </a:p>
          <a:p>
            <a:endParaRPr lang="en-US" sz="1400" b="1" dirty="0"/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E0E51E-DFE1-13EC-36A6-C9ABCBF10217}"/>
              </a:ext>
            </a:extLst>
          </p:cNvPr>
          <p:cNvSpPr txBox="1"/>
          <p:nvPr/>
        </p:nvSpPr>
        <p:spPr>
          <a:xfrm>
            <a:off x="423467" y="1299408"/>
            <a:ext cx="98613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1️⃣ Top countries by total emission for the most recent year 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DE83A9E-0C73-268D-8B3E-A9CBCED321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1379" y="3055043"/>
            <a:ext cx="2543530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890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A2F57-EF0F-0CCA-62B9-C5E54AEE0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1599636-2B2D-2F09-3B42-9675788B6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31" y="2578277"/>
            <a:ext cx="3321543" cy="1589500"/>
          </a:xfrm>
          <a:prstGeom prst="rect">
            <a:avLst/>
          </a:prstGeom>
        </p:spPr>
      </p:pic>
      <p:sp>
        <p:nvSpPr>
          <p:cNvPr id="31" name="Shape 1">
            <a:extLst>
              <a:ext uri="{FF2B5EF4-FFF2-40B4-BE49-F238E27FC236}">
                <a16:creationId xmlns:a16="http://schemas.microsoft.com/office/drawing/2014/main" id="{37763FF6-852F-A851-E0F7-BAE5AC6E7430}"/>
              </a:ext>
            </a:extLst>
          </p:cNvPr>
          <p:cNvSpPr/>
          <p:nvPr/>
        </p:nvSpPr>
        <p:spPr>
          <a:xfrm>
            <a:off x="6918138" y="2394517"/>
            <a:ext cx="1868992" cy="367521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600" b="1" dirty="0"/>
              <a:t>Output</a:t>
            </a:r>
          </a:p>
          <a:p>
            <a:endParaRPr lang="en-IN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B6F2D9A-A52A-7504-8DFC-E01519F75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946" y="3037053"/>
            <a:ext cx="2221813" cy="1589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C1DC5C-48B9-2780-8DA6-D58B54A43CB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44050" y="628559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  <p:sp>
        <p:nvSpPr>
          <p:cNvPr id="2" name="Shape 1">
            <a:extLst>
              <a:ext uri="{FF2B5EF4-FFF2-40B4-BE49-F238E27FC236}">
                <a16:creationId xmlns:a16="http://schemas.microsoft.com/office/drawing/2014/main" id="{B4E3635B-BCCA-A79B-53AE-18B29C21B13E}"/>
              </a:ext>
            </a:extLst>
          </p:cNvPr>
          <p:cNvSpPr/>
          <p:nvPr/>
        </p:nvSpPr>
        <p:spPr>
          <a:xfrm>
            <a:off x="187873" y="4735312"/>
            <a:ext cx="6435615" cy="1076653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400" b="1" dirty="0"/>
              <a:t>📌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China and USA lead in GDP</a:t>
            </a:r>
            <a:r>
              <a:rPr lang="en-US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Higher GDP countries show </a:t>
            </a:r>
            <a:r>
              <a:rPr lang="en-US" sz="1400" b="1" dirty="0"/>
              <a:t>higher energy demand</a:t>
            </a:r>
            <a:r>
              <a:rPr lang="en-US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Economic growth impacts </a:t>
            </a:r>
            <a:r>
              <a:rPr lang="en-US" sz="1400" b="1" dirty="0"/>
              <a:t>energy consumption and emissions</a:t>
            </a:r>
            <a:r>
              <a:rPr lang="en-US" sz="1400" dirty="0"/>
              <a:t>.</a:t>
            </a:r>
          </a:p>
          <a:p>
            <a:endParaRPr lang="en-US" sz="1400" b="1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E7E98E-15E1-0439-AD96-F9908FFC3C33}"/>
              </a:ext>
            </a:extLst>
          </p:cNvPr>
          <p:cNvSpPr txBox="1"/>
          <p:nvPr/>
        </p:nvSpPr>
        <p:spPr>
          <a:xfrm>
            <a:off x="526173" y="1157492"/>
            <a:ext cx="79635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sz="2400" b="1" kern="120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2️⃣ Top 5 countries by GDP for the most recent year </a:t>
            </a:r>
            <a:endParaRPr lang="en-IN" sz="240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30331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3FB7DE-859E-58B7-98E2-67A1C25E6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07" y="2543811"/>
            <a:ext cx="3129455" cy="1895740"/>
          </a:xfrm>
          <a:prstGeom prst="rect">
            <a:avLst/>
          </a:prstGeom>
        </p:spPr>
      </p:pic>
      <p:sp>
        <p:nvSpPr>
          <p:cNvPr id="6" name="Shape 1">
            <a:extLst>
              <a:ext uri="{FF2B5EF4-FFF2-40B4-BE49-F238E27FC236}">
                <a16:creationId xmlns:a16="http://schemas.microsoft.com/office/drawing/2014/main" id="{8C6CE47C-8416-A14A-FF23-4A351BDA4D0A}"/>
              </a:ext>
            </a:extLst>
          </p:cNvPr>
          <p:cNvSpPr/>
          <p:nvPr/>
        </p:nvSpPr>
        <p:spPr>
          <a:xfrm>
            <a:off x="5555385" y="2269258"/>
            <a:ext cx="1708398" cy="419100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61CAD5-E158-FB6D-E325-D6DECB20E995}"/>
              </a:ext>
            </a:extLst>
          </p:cNvPr>
          <p:cNvSpPr txBox="1"/>
          <p:nvPr/>
        </p:nvSpPr>
        <p:spPr>
          <a:xfrm>
            <a:off x="5555385" y="2285361"/>
            <a:ext cx="59310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Output</a:t>
            </a:r>
            <a:endParaRPr lang="en-IN" sz="14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AACB4AF-D855-79DE-2DDC-95887D58FA6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5EEB5CF-F1DD-7504-05A0-0289BE09B3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6632" y="2983369"/>
            <a:ext cx="3235474" cy="3163994"/>
          </a:xfrm>
          <a:prstGeom prst="rect">
            <a:avLst/>
          </a:prstGeom>
        </p:spPr>
      </p:pic>
      <p:sp>
        <p:nvSpPr>
          <p:cNvPr id="19" name="Shape 1">
            <a:extLst>
              <a:ext uri="{FF2B5EF4-FFF2-40B4-BE49-F238E27FC236}">
                <a16:creationId xmlns:a16="http://schemas.microsoft.com/office/drawing/2014/main" id="{A729B21C-EEEC-B68B-1640-67FC54B54D37}"/>
              </a:ext>
            </a:extLst>
          </p:cNvPr>
          <p:cNvSpPr/>
          <p:nvPr/>
        </p:nvSpPr>
        <p:spPr>
          <a:xfrm>
            <a:off x="190121" y="4822684"/>
            <a:ext cx="4973086" cy="1481959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500" b="1" dirty="0"/>
              <a:t>   </a:t>
            </a:r>
            <a:r>
              <a:rPr lang="en-US" sz="1400" b="1" dirty="0"/>
              <a:t> 🔍 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Production and consumption are equal or near-equal</a:t>
            </a:r>
            <a:r>
              <a:rPr lang="en-US" sz="1400" dirty="0"/>
              <a:t> for many countries.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Some countries show </a:t>
            </a:r>
            <a:r>
              <a:rPr lang="en-US" sz="1400" b="1" dirty="0"/>
              <a:t>higher consumption than production</a:t>
            </a:r>
            <a:r>
              <a:rPr lang="en-US" sz="1400" dirty="0"/>
              <a:t>, indicating imports.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This helps identify </a:t>
            </a:r>
            <a:r>
              <a:rPr lang="en-US" sz="1400" b="1" dirty="0"/>
              <a:t>energy dependency patterns</a:t>
            </a:r>
            <a:r>
              <a:rPr lang="en-US" sz="1400" dirty="0"/>
              <a:t>.</a:t>
            </a:r>
          </a:p>
          <a:p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8C8CA4-1DF2-A6D4-23D8-6B9E3E9A8905}"/>
              </a:ext>
            </a:extLst>
          </p:cNvPr>
          <p:cNvSpPr txBox="1"/>
          <p:nvPr/>
        </p:nvSpPr>
        <p:spPr>
          <a:xfrm>
            <a:off x="591207" y="1203425"/>
            <a:ext cx="60303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3️⃣ Production vs Consumption</a:t>
            </a:r>
          </a:p>
        </p:txBody>
      </p:sp>
    </p:spTree>
    <p:extLst>
      <p:ext uri="{BB962C8B-B14F-4D97-AF65-F5344CB8AC3E}">
        <p14:creationId xmlns:p14="http://schemas.microsoft.com/office/powerpoint/2010/main" val="276800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886FA-682B-EFCD-E1FB-E0CB6A4BA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">
            <a:extLst>
              <a:ext uri="{FF2B5EF4-FFF2-40B4-BE49-F238E27FC236}">
                <a16:creationId xmlns:a16="http://schemas.microsoft.com/office/drawing/2014/main" id="{196531D9-D974-4E88-A183-BF6194CD6CE0}"/>
              </a:ext>
            </a:extLst>
          </p:cNvPr>
          <p:cNvSpPr/>
          <p:nvPr/>
        </p:nvSpPr>
        <p:spPr>
          <a:xfrm>
            <a:off x="5657279" y="2464874"/>
            <a:ext cx="1708223" cy="419100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600" b="1" dirty="0"/>
              <a:t>                         </a:t>
            </a:r>
            <a:endParaRPr lang="en-IN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3FC7E3-D86C-A90C-EFFE-89B5A797CCA5}"/>
              </a:ext>
            </a:extLst>
          </p:cNvPr>
          <p:cNvSpPr txBox="1"/>
          <p:nvPr/>
        </p:nvSpPr>
        <p:spPr>
          <a:xfrm>
            <a:off x="5771046" y="2520535"/>
            <a:ext cx="59310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Output</a:t>
            </a:r>
            <a:endParaRPr lang="en-IN" sz="14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A4801D8-3B08-4E15-1CBA-7C4292988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38" y="2557956"/>
            <a:ext cx="3564623" cy="17420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44D3A7E-7A50-A1FD-3247-2FBCF79B1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279" y="2998667"/>
            <a:ext cx="4227700" cy="16080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60B5E17-C951-00B1-A4E0-8CAB4C25272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C5B785-A870-1EC7-350D-D81ED100C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170" y="1576236"/>
            <a:ext cx="11140932" cy="419100"/>
          </a:xfrm>
        </p:spPr>
        <p:txBody>
          <a:bodyPr/>
          <a:lstStyle/>
          <a:p>
            <a:r>
              <a:rPr lang="en-IN" sz="2400" b="1" dirty="0"/>
              <a:t>4️⃣ </a:t>
            </a:r>
            <a:r>
              <a:rPr lang="en-US" sz="2400" b="1" dirty="0"/>
              <a:t>Which energy types contribute most to emissions across all countries?</a:t>
            </a:r>
            <a:br>
              <a:rPr lang="en-US" dirty="0"/>
            </a:br>
            <a:endParaRPr lang="en-IN" dirty="0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1BA10E48-167D-3C58-C24B-F85D92911425}"/>
              </a:ext>
            </a:extLst>
          </p:cNvPr>
          <p:cNvSpPr/>
          <p:nvPr/>
        </p:nvSpPr>
        <p:spPr>
          <a:xfrm>
            <a:off x="291748" y="4887549"/>
            <a:ext cx="6132700" cy="954107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600" b="1" dirty="0"/>
              <a:t>                         </a:t>
            </a:r>
            <a:endParaRPr lang="en-IN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2F6017-1ACB-46B9-7D06-A0DF85B23FCA}"/>
              </a:ext>
            </a:extLst>
          </p:cNvPr>
          <p:cNvSpPr txBox="1"/>
          <p:nvPr/>
        </p:nvSpPr>
        <p:spPr>
          <a:xfrm>
            <a:off x="489937" y="4862664"/>
            <a:ext cx="606851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🔍 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CO₂ emissions contribute the highest share</a:t>
            </a:r>
            <a:r>
              <a:rPr lang="en-US" sz="1400" dirty="0"/>
              <a:t> across all countries.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Coal and coke</a:t>
            </a:r>
            <a:r>
              <a:rPr lang="en-US" sz="1400" dirty="0"/>
              <a:t> are the second major emission sources.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Fossil fuel sources dominate overall global emissions.</a:t>
            </a:r>
          </a:p>
        </p:txBody>
      </p:sp>
    </p:spTree>
    <p:extLst>
      <p:ext uri="{BB962C8B-B14F-4D97-AF65-F5344CB8AC3E}">
        <p14:creationId xmlns:p14="http://schemas.microsoft.com/office/powerpoint/2010/main" val="1702855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502E4-9972-E9F5-DD16-C394EE5F5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">
            <a:extLst>
              <a:ext uri="{FF2B5EF4-FFF2-40B4-BE49-F238E27FC236}">
                <a16:creationId xmlns:a16="http://schemas.microsoft.com/office/drawing/2014/main" id="{AE930528-14C0-8B4A-9996-6F9C6CB275F0}"/>
              </a:ext>
            </a:extLst>
          </p:cNvPr>
          <p:cNvSpPr/>
          <p:nvPr/>
        </p:nvSpPr>
        <p:spPr>
          <a:xfrm>
            <a:off x="205090" y="2477352"/>
            <a:ext cx="5890910" cy="419100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FA87632-2560-D8F2-41B9-DCD9A181A4F8}"/>
              </a:ext>
            </a:extLst>
          </p:cNvPr>
          <p:cNvSpPr/>
          <p:nvPr/>
        </p:nvSpPr>
        <p:spPr>
          <a:xfrm>
            <a:off x="627993" y="655524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IN" sz="3200" b="1" dirty="0"/>
              <a:t>📈</a:t>
            </a:r>
            <a:r>
              <a:rPr lang="en-IN" sz="3200" b="1" dirty="0">
                <a:solidFill>
                  <a:schemeClr val="bg1"/>
                </a:solidFill>
              </a:rPr>
              <a:t>TREND ANALYSIS OVER TIME</a:t>
            </a:r>
            <a:endParaRPr lang="en-US" sz="1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350FFE-BCB7-83BC-1002-2CD549186830}"/>
              </a:ext>
            </a:extLst>
          </p:cNvPr>
          <p:cNvSpPr txBox="1"/>
          <p:nvPr/>
        </p:nvSpPr>
        <p:spPr>
          <a:xfrm>
            <a:off x="525517" y="1316893"/>
            <a:ext cx="92885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1️⃣ How have global emissions changed year over year?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62BA8229-C3DD-CEF0-535A-F0D3E3881DC5}"/>
              </a:ext>
            </a:extLst>
          </p:cNvPr>
          <p:cNvSpPr/>
          <p:nvPr/>
        </p:nvSpPr>
        <p:spPr>
          <a:xfrm>
            <a:off x="6841792" y="2452468"/>
            <a:ext cx="1868658" cy="419100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2B9AC1-4B73-9C12-4599-DEE6F70C8553}"/>
              </a:ext>
            </a:extLst>
          </p:cNvPr>
          <p:cNvSpPr txBox="1"/>
          <p:nvPr/>
        </p:nvSpPr>
        <p:spPr>
          <a:xfrm>
            <a:off x="6956879" y="2510311"/>
            <a:ext cx="23232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Output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B2AC921-E0F4-0A1E-45D6-E5F3F2D00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02" y="3323285"/>
            <a:ext cx="3762900" cy="12765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453859-5170-2D11-B59C-98FADF70B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792" y="3136644"/>
            <a:ext cx="2298197" cy="140853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4A68730-9A6B-4710-7E67-B4B66E51DEB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37842E19-783B-FF2F-7E96-6D08D6A2FC20}"/>
              </a:ext>
            </a:extLst>
          </p:cNvPr>
          <p:cNvSpPr/>
          <p:nvPr/>
        </p:nvSpPr>
        <p:spPr>
          <a:xfrm>
            <a:off x="205090" y="4972173"/>
            <a:ext cx="5823284" cy="1050604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400" b="1" dirty="0"/>
              <a:t>     📈 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Global emissions show a </a:t>
            </a:r>
            <a:r>
              <a:rPr lang="en-US" sz="1400" b="1" dirty="0"/>
              <a:t>steady year-on-year increase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Highest emission recorded in </a:t>
            </a:r>
            <a:r>
              <a:rPr lang="en-US" sz="1400" b="1" dirty="0"/>
              <a:t>2023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Indicates rising global energy demand and industrial growth</a:t>
            </a:r>
          </a:p>
        </p:txBody>
      </p:sp>
    </p:spTree>
    <p:extLst>
      <p:ext uri="{BB962C8B-B14F-4D97-AF65-F5344CB8AC3E}">
        <p14:creationId xmlns:p14="http://schemas.microsoft.com/office/powerpoint/2010/main" val="2801705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4A5B4-8B0B-5683-7D51-81FCC3A0B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0BE60016-3F5A-B7FD-B185-873030FAA4AF}"/>
              </a:ext>
            </a:extLst>
          </p:cNvPr>
          <p:cNvSpPr txBox="1"/>
          <p:nvPr/>
        </p:nvSpPr>
        <p:spPr>
          <a:xfrm>
            <a:off x="494539" y="1298831"/>
            <a:ext cx="1079357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2️⃣ What is the trend in GDP for each country over the given years?</a:t>
            </a:r>
            <a:endParaRPr lang="en-US" sz="2400" dirty="0">
              <a:solidFill>
                <a:schemeClr val="bg1"/>
              </a:solidFill>
            </a:endParaRPr>
          </a:p>
          <a:p>
            <a:br>
              <a:rPr lang="en-US" sz="1400" dirty="0"/>
            </a:br>
            <a:endParaRPr lang="en-IN" sz="1400" b="1" dirty="0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1DC22A94-3588-DF01-DA40-B13134FB95F4}"/>
              </a:ext>
            </a:extLst>
          </p:cNvPr>
          <p:cNvSpPr/>
          <p:nvPr/>
        </p:nvSpPr>
        <p:spPr>
          <a:xfrm>
            <a:off x="6873322" y="2465291"/>
            <a:ext cx="1868658" cy="419100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F5272D-EFE1-E867-D123-A4E995B2ABA0}"/>
              </a:ext>
            </a:extLst>
          </p:cNvPr>
          <p:cNvSpPr txBox="1"/>
          <p:nvPr/>
        </p:nvSpPr>
        <p:spPr>
          <a:xfrm>
            <a:off x="6963380" y="2520952"/>
            <a:ext cx="23232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Output</a:t>
            </a:r>
            <a:endParaRPr lang="en-US" sz="1400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9C8280C-26E1-EBF6-1805-1CA27AF38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92" y="2690228"/>
            <a:ext cx="3534656" cy="151190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770F89B-77ED-09E1-C33C-7699ADAB7E9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85F406C6-5D04-1079-6747-773068C45E5F}"/>
              </a:ext>
            </a:extLst>
          </p:cNvPr>
          <p:cNvSpPr/>
          <p:nvPr/>
        </p:nvSpPr>
        <p:spPr>
          <a:xfrm>
            <a:off x="285007" y="4761695"/>
            <a:ext cx="5437875" cy="1008483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400" b="1" dirty="0"/>
              <a:t>    📊 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GDP trend varies </a:t>
            </a:r>
            <a:r>
              <a:rPr lang="en-US" sz="1400" b="1" dirty="0"/>
              <a:t>country to country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Some countries show </a:t>
            </a:r>
            <a:r>
              <a:rPr lang="en-US" sz="1400" b="1" dirty="0"/>
              <a:t>steady growth</a:t>
            </a:r>
            <a:r>
              <a:rPr lang="en-US" sz="1400" dirty="0"/>
              <a:t>, others decline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Reflects economic changes over years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2B073E-B502-C510-45AF-06D92F609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3322" y="3005086"/>
            <a:ext cx="2323200" cy="30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704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ED75E-9602-D57F-52AC-D5DBA284B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4F07900-673A-9FCB-1414-984201B04BCD}"/>
              </a:ext>
            </a:extLst>
          </p:cNvPr>
          <p:cNvSpPr txBox="1"/>
          <p:nvPr/>
        </p:nvSpPr>
        <p:spPr>
          <a:xfrm>
            <a:off x="494539" y="1298831"/>
            <a:ext cx="11471489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3️⃣ How has population growth affected total emissions in each country?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br>
              <a:rPr lang="en-US" sz="1400" dirty="0"/>
            </a:br>
            <a:endParaRPr lang="en-IN" sz="1400" b="1" dirty="0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0A3EBFD1-DBF2-6143-B25B-F0BA1B7D4E11}"/>
              </a:ext>
            </a:extLst>
          </p:cNvPr>
          <p:cNvSpPr/>
          <p:nvPr/>
        </p:nvSpPr>
        <p:spPr>
          <a:xfrm>
            <a:off x="6873322" y="2465291"/>
            <a:ext cx="1868658" cy="419100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47CF92-F813-A03B-38AB-DA3A01E13462}"/>
              </a:ext>
            </a:extLst>
          </p:cNvPr>
          <p:cNvSpPr txBox="1"/>
          <p:nvPr/>
        </p:nvSpPr>
        <p:spPr>
          <a:xfrm>
            <a:off x="6963380" y="2520952"/>
            <a:ext cx="23232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Output</a:t>
            </a:r>
            <a:endParaRPr lang="en-US" sz="1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C70C13-BDEC-DAC6-8CA2-A4583DDC79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434A821E-D2ED-9BEF-55F5-BFA1FF60B521}"/>
              </a:ext>
            </a:extLst>
          </p:cNvPr>
          <p:cNvSpPr/>
          <p:nvPr/>
        </p:nvSpPr>
        <p:spPr>
          <a:xfrm>
            <a:off x="340187" y="5296160"/>
            <a:ext cx="4980676" cy="1008483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400" b="1" dirty="0"/>
              <a:t>    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959032-E2C4-94E0-26AA-2A98E963D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867" y="2465291"/>
            <a:ext cx="4048690" cy="24863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1D5C7F-497C-4219-8C37-66F7F3B31CD5}"/>
              </a:ext>
            </a:extLst>
          </p:cNvPr>
          <p:cNvSpPr txBox="1"/>
          <p:nvPr/>
        </p:nvSpPr>
        <p:spPr>
          <a:xfrm>
            <a:off x="493496" y="5296160"/>
            <a:ext cx="60973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👥 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Population generally shows an </a:t>
            </a:r>
            <a:r>
              <a:rPr lang="en-US" sz="1400" b="1" dirty="0"/>
              <a:t>increasing trend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Higher population often leads to </a:t>
            </a:r>
            <a:r>
              <a:rPr lang="en-US" sz="1400" b="1" dirty="0"/>
              <a:t>higher emissions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Shows impact of population on energy demand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56224F-1DB8-E371-CE9D-FF841187D8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1139" y="2940052"/>
            <a:ext cx="3258005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961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77130-F0E0-8B51-1FC8-3BB36161B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81CFAA89-A81E-FD5F-AF5E-2B0D407A28D3}"/>
              </a:ext>
            </a:extLst>
          </p:cNvPr>
          <p:cNvSpPr/>
          <p:nvPr/>
        </p:nvSpPr>
        <p:spPr>
          <a:xfrm>
            <a:off x="825062" y="1182828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endParaRPr lang="en-US" sz="16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3114BDF2-2956-1089-4C17-8A7FD9E6589F}"/>
              </a:ext>
            </a:extLst>
          </p:cNvPr>
          <p:cNvSpPr/>
          <p:nvPr/>
        </p:nvSpPr>
        <p:spPr>
          <a:xfrm>
            <a:off x="7558012" y="2374783"/>
            <a:ext cx="1806367" cy="342697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600" b="1" dirty="0"/>
              <a:t>Output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634C862-4420-1C5D-E458-31C18EF4A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05" y="2546132"/>
            <a:ext cx="5559105" cy="19243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CDBB58-4EA4-DB88-0FE9-D47ACCCB566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E4262AEC-67E5-D74B-40D0-9950C3C9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535" y="1375075"/>
            <a:ext cx="10519411" cy="706964"/>
          </a:xfrm>
        </p:spPr>
        <p:txBody>
          <a:bodyPr/>
          <a:lstStyle/>
          <a:p>
            <a:r>
              <a:rPr lang="en-IN" sz="2400" b="1" dirty="0"/>
              <a:t>4️⃣ </a:t>
            </a:r>
            <a:r>
              <a:rPr lang="en-US" sz="2400" b="1" dirty="0"/>
              <a:t>Has energy consumption increased or decreased over the years for major economies?</a:t>
            </a:r>
            <a:br>
              <a:rPr lang="en-US" dirty="0"/>
            </a:br>
            <a:endParaRPr lang="en-IN" dirty="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BD407033-028A-613B-4834-958ED157975D}"/>
              </a:ext>
            </a:extLst>
          </p:cNvPr>
          <p:cNvSpPr/>
          <p:nvPr/>
        </p:nvSpPr>
        <p:spPr>
          <a:xfrm>
            <a:off x="471206" y="4847897"/>
            <a:ext cx="5070374" cy="1332186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400" b="1" dirty="0"/>
              <a:t>   ⚡ 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Major economies show </a:t>
            </a:r>
            <a:r>
              <a:rPr lang="en-US" sz="1400" b="1" dirty="0"/>
              <a:t>increasing energy consumption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Indicates rising industrial and economic activity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Higher demand leads to more emissions</a:t>
            </a:r>
          </a:p>
          <a:p>
            <a:endParaRPr lang="en-US" sz="14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97DE0D4-BBC4-EF24-6B49-3024DBA9F5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8012" y="2823616"/>
            <a:ext cx="2524477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028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33A3F-2DA0-1D65-61AD-0A02500FE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3357D-B2ED-F69E-CBB0-486BD303E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457" y="1116543"/>
            <a:ext cx="10109509" cy="706964"/>
          </a:xfrm>
        </p:spPr>
        <p:txBody>
          <a:bodyPr/>
          <a:lstStyle/>
          <a:p>
            <a:r>
              <a:rPr lang="en-IN" sz="2400" dirty="0"/>
              <a:t>5️⃣</a:t>
            </a:r>
            <a:r>
              <a:rPr lang="en-US" sz="2400" b="1" dirty="0"/>
              <a:t>What is the average yearly change in emissions per capita for each country?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6508A7-6BC6-1951-4507-B2B0ED4F2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63" y="2695903"/>
            <a:ext cx="3962400" cy="17287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59E935-7BC9-579E-27F9-FC9C210788B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2C2902C5-0E89-2A14-6437-438E1CCAB0CB}"/>
              </a:ext>
            </a:extLst>
          </p:cNvPr>
          <p:cNvSpPr/>
          <p:nvPr/>
        </p:nvSpPr>
        <p:spPr>
          <a:xfrm>
            <a:off x="198297" y="4753558"/>
            <a:ext cx="4893965" cy="1008483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endParaRPr lang="en-US" sz="1400" dirty="0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2E3AD77A-4DDB-7026-5472-3BA3D7E5563B}"/>
              </a:ext>
            </a:extLst>
          </p:cNvPr>
          <p:cNvSpPr/>
          <p:nvPr/>
        </p:nvSpPr>
        <p:spPr>
          <a:xfrm>
            <a:off x="6096000" y="2327162"/>
            <a:ext cx="1415041" cy="434844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600" b="1" dirty="0"/>
              <a:t>  Output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4393AD-6D30-3C61-FF9E-1127B6516CD9}"/>
              </a:ext>
            </a:extLst>
          </p:cNvPr>
          <p:cNvSpPr txBox="1"/>
          <p:nvPr/>
        </p:nvSpPr>
        <p:spPr>
          <a:xfrm>
            <a:off x="336989" y="4753558"/>
            <a:ext cx="60973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🌍 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Per capita emissions show </a:t>
            </a:r>
            <a:r>
              <a:rPr lang="en-US" sz="1400" b="1" dirty="0"/>
              <a:t>minor yearly changes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Change remains almost </a:t>
            </a:r>
            <a:r>
              <a:rPr lang="en-US" sz="1400" b="1" dirty="0"/>
              <a:t>stable across countries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Indicates similar emission trend per person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A4A6E1-28A6-7A4D-71CD-5AFEF83518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867059"/>
            <a:ext cx="3048425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447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AA334-2095-1D96-E15A-BB632535E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F4E6300C-9E42-3D3F-0A81-7E4E2B69AE31}"/>
              </a:ext>
            </a:extLst>
          </p:cNvPr>
          <p:cNvSpPr/>
          <p:nvPr/>
        </p:nvSpPr>
        <p:spPr>
          <a:xfrm>
            <a:off x="698937" y="764681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IN" sz="3200" dirty="0"/>
              <a:t>📉 </a:t>
            </a:r>
            <a:r>
              <a:rPr lang="en-IN" sz="3200" b="1" dirty="0">
                <a:solidFill>
                  <a:schemeClr val="bg1"/>
                </a:solidFill>
              </a:rPr>
              <a:t>Ratio &amp; Per Capita Analysis</a:t>
            </a:r>
            <a:endParaRPr lang="en-US" sz="14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7B9102-3E97-DD18-38EA-6C087770B29E}"/>
              </a:ext>
            </a:extLst>
          </p:cNvPr>
          <p:cNvSpPr txBox="1"/>
          <p:nvPr/>
        </p:nvSpPr>
        <p:spPr>
          <a:xfrm>
            <a:off x="621838" y="1347881"/>
            <a:ext cx="111333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1️⃣ What is the emission-to-GDP ratio for each country by year?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1411DADC-A8C8-EDAC-F52A-37EDB26CE9A1}"/>
              </a:ext>
            </a:extLst>
          </p:cNvPr>
          <p:cNvSpPr/>
          <p:nvPr/>
        </p:nvSpPr>
        <p:spPr>
          <a:xfrm>
            <a:off x="7148886" y="2353649"/>
            <a:ext cx="1868658" cy="419100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264D3E-A822-39FC-8659-8F83E17C6823}"/>
              </a:ext>
            </a:extLst>
          </p:cNvPr>
          <p:cNvSpPr txBox="1"/>
          <p:nvPr/>
        </p:nvSpPr>
        <p:spPr>
          <a:xfrm>
            <a:off x="7193363" y="2397212"/>
            <a:ext cx="23232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E22619-FAE0-5A5A-A175-93526B1AB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48" y="2563199"/>
            <a:ext cx="5166144" cy="211895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50B49D7-B8CF-022B-C695-52BFCC9E27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62176E3A-D2D3-809A-BC65-EB0B0F42A42C}"/>
              </a:ext>
            </a:extLst>
          </p:cNvPr>
          <p:cNvSpPr/>
          <p:nvPr/>
        </p:nvSpPr>
        <p:spPr>
          <a:xfrm>
            <a:off x="237711" y="5187764"/>
            <a:ext cx="4893965" cy="1008483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400" b="1" dirty="0"/>
              <a:t>  📉 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Higher ratio indicates </a:t>
            </a:r>
            <a:r>
              <a:rPr lang="en-US" sz="1400" b="1" dirty="0"/>
              <a:t>more emissions per GDP unit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Shows </a:t>
            </a:r>
            <a:r>
              <a:rPr lang="en-US" sz="1400" b="1" dirty="0"/>
              <a:t>environmental efficiency</a:t>
            </a:r>
            <a:r>
              <a:rPr lang="en-US" sz="1400" dirty="0"/>
              <a:t> of a country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Lower ratio means </a:t>
            </a:r>
            <a:r>
              <a:rPr lang="en-US" sz="1400" b="1" dirty="0"/>
              <a:t>better economic sustainability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7F74FD-5B3F-2BA6-893F-48F7248A85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3363" y="2881914"/>
            <a:ext cx="2991267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910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EF5CD-35BE-ECEE-83CC-9652FF98D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">
            <a:extLst>
              <a:ext uri="{FF2B5EF4-FFF2-40B4-BE49-F238E27FC236}">
                <a16:creationId xmlns:a16="http://schemas.microsoft.com/office/drawing/2014/main" id="{2119D53C-2707-86E2-7B1B-1A8F879F32B8}"/>
              </a:ext>
            </a:extLst>
          </p:cNvPr>
          <p:cNvSpPr/>
          <p:nvPr/>
        </p:nvSpPr>
        <p:spPr>
          <a:xfrm>
            <a:off x="7148886" y="2434565"/>
            <a:ext cx="1868658" cy="419100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1258DE-6C03-CC4F-60AD-875055F4796B}"/>
              </a:ext>
            </a:extLst>
          </p:cNvPr>
          <p:cNvSpPr txBox="1"/>
          <p:nvPr/>
        </p:nvSpPr>
        <p:spPr>
          <a:xfrm>
            <a:off x="7268474" y="2490226"/>
            <a:ext cx="23232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Output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4521D-9C6B-E473-C03A-E062C3321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50" y="2647115"/>
            <a:ext cx="5734850" cy="200553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0A34791-4295-2A67-4FB4-D6A86EF23B7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AA6D4A-6370-5B1B-54B7-FC2694CDD11B}"/>
              </a:ext>
            </a:extLst>
          </p:cNvPr>
          <p:cNvSpPr txBox="1"/>
          <p:nvPr/>
        </p:nvSpPr>
        <p:spPr>
          <a:xfrm>
            <a:off x="512379" y="1097351"/>
            <a:ext cx="994804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2️⃣ What is the energy consumption per capita for each country over the last decade?</a:t>
            </a:r>
            <a:br>
              <a:rPr lang="en-US" sz="1800" dirty="0"/>
            </a:br>
            <a:endParaRPr lang="en-IN" sz="1800" b="1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E868ACB1-E1CE-7C35-9DA1-AFD9E03FB27D}"/>
              </a:ext>
            </a:extLst>
          </p:cNvPr>
          <p:cNvSpPr/>
          <p:nvPr/>
        </p:nvSpPr>
        <p:spPr>
          <a:xfrm>
            <a:off x="237711" y="5187764"/>
            <a:ext cx="4893965" cy="1244567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400" b="1" dirty="0"/>
              <a:t>   👤 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Per capita consumption shows </a:t>
            </a:r>
            <a:r>
              <a:rPr lang="en-US" sz="1400" b="1" dirty="0"/>
              <a:t>individual energy usage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Helps compare countries </a:t>
            </a:r>
            <a:r>
              <a:rPr lang="en-US" sz="1400" b="1" dirty="0"/>
              <a:t>fairly by population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Higher value means </a:t>
            </a:r>
            <a:r>
              <a:rPr lang="en-US" sz="1400" b="1" dirty="0"/>
              <a:t>more energy use per person</a:t>
            </a:r>
            <a:endParaRPr lang="en-US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5F4A89D-EFAF-FA9A-E220-2432374097C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582"/>
          <a:stretch>
            <a:fillRect/>
          </a:stretch>
        </p:blipFill>
        <p:spPr>
          <a:xfrm>
            <a:off x="7148886" y="2943541"/>
            <a:ext cx="3200847" cy="317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366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2B779-7A11-CE07-30C1-FF3A2FE86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F3C24A1-30BB-FA3A-0BA3-ECA547C5F5E9}"/>
              </a:ext>
            </a:extLst>
          </p:cNvPr>
          <p:cNvSpPr/>
          <p:nvPr/>
        </p:nvSpPr>
        <p:spPr>
          <a:xfrm>
            <a:off x="554421" y="1606935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/>
                </a:solidFill>
              </a:rPr>
              <a:t>3️⃣ How does energy production per capita vary across countries?</a:t>
            </a:r>
            <a:br>
              <a:rPr lang="en-US" sz="2400" b="1" dirty="0">
                <a:solidFill>
                  <a:schemeClr val="bg1"/>
                </a:solidFill>
              </a:rPr>
            </a:b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9A75326-0AD6-D377-1544-0E37F75BA6C8}"/>
              </a:ext>
            </a:extLst>
          </p:cNvPr>
          <p:cNvSpPr/>
          <p:nvPr/>
        </p:nvSpPr>
        <p:spPr>
          <a:xfrm>
            <a:off x="6978475" y="2672655"/>
            <a:ext cx="1723428" cy="387563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600" b="1" dirty="0"/>
              <a:t>Output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DEEB59-60BE-68CB-7CCD-F3717B291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54" y="2428454"/>
            <a:ext cx="5563376" cy="23530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957E3D-88D1-312A-7FCC-043C050C8DF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  <p:sp>
        <p:nvSpPr>
          <p:cNvPr id="11" name="Shape 1">
            <a:extLst>
              <a:ext uri="{FF2B5EF4-FFF2-40B4-BE49-F238E27FC236}">
                <a16:creationId xmlns:a16="http://schemas.microsoft.com/office/drawing/2014/main" id="{7512976D-B2A8-739D-9F2E-63B0F566DEED}"/>
              </a:ext>
            </a:extLst>
          </p:cNvPr>
          <p:cNvSpPr/>
          <p:nvPr/>
        </p:nvSpPr>
        <p:spPr>
          <a:xfrm>
            <a:off x="308656" y="5060076"/>
            <a:ext cx="4893965" cy="1244567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400" b="1" dirty="0"/>
              <a:t>   🏭 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Per capita production shows </a:t>
            </a:r>
            <a:r>
              <a:rPr lang="en-US" sz="1400" b="1" dirty="0"/>
              <a:t>energy generated per person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Helps compare countries </a:t>
            </a:r>
            <a:r>
              <a:rPr lang="en-US" sz="1400" b="1" dirty="0"/>
              <a:t>fairly by population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Higher value means </a:t>
            </a:r>
            <a:r>
              <a:rPr lang="en-US" sz="1400" b="1" dirty="0"/>
              <a:t>more production per person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0730B1-D3C2-3CF6-D6BB-B49DC88169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8475" y="3129566"/>
            <a:ext cx="3181794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0662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2583F-C4B2-D793-9E79-3A5205677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073F9BB0-99DA-36C0-ECA4-27AEFBF233E0}"/>
              </a:ext>
            </a:extLst>
          </p:cNvPr>
          <p:cNvSpPr/>
          <p:nvPr/>
        </p:nvSpPr>
        <p:spPr>
          <a:xfrm>
            <a:off x="533400" y="1638821"/>
            <a:ext cx="1158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4️⃣ </a:t>
            </a:r>
            <a:r>
              <a:rPr lang="en-US" sz="2400" b="1" dirty="0">
                <a:solidFill>
                  <a:schemeClr val="bg1"/>
                </a:solidFill>
              </a:rPr>
              <a:t>Which countries have the highest energy consumption relative to GDP?</a:t>
            </a:r>
            <a:br>
              <a:rPr lang="en-US" sz="4000" dirty="0"/>
            </a:br>
            <a:endParaRPr lang="en-IN" sz="4000" b="1" dirty="0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2C04D8ED-309F-786F-96DB-8ECE6AB5C0C9}"/>
              </a:ext>
            </a:extLst>
          </p:cNvPr>
          <p:cNvSpPr/>
          <p:nvPr/>
        </p:nvSpPr>
        <p:spPr>
          <a:xfrm>
            <a:off x="6943157" y="2415973"/>
            <a:ext cx="1806367" cy="342697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600" b="1" dirty="0"/>
              <a:t>Output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1E960D8-2FD5-FE4A-11F4-B3D63D756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2587322"/>
            <a:ext cx="5905500" cy="21746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5D32F0-83B4-0370-1B0B-3A2CCE85288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  <p:sp>
        <p:nvSpPr>
          <p:cNvPr id="11" name="Shape 1">
            <a:extLst>
              <a:ext uri="{FF2B5EF4-FFF2-40B4-BE49-F238E27FC236}">
                <a16:creationId xmlns:a16="http://schemas.microsoft.com/office/drawing/2014/main" id="{B5798F9E-F1A7-E68A-91E1-7F3844ADD3B7}"/>
              </a:ext>
            </a:extLst>
          </p:cNvPr>
          <p:cNvSpPr/>
          <p:nvPr/>
        </p:nvSpPr>
        <p:spPr>
          <a:xfrm>
            <a:off x="308656" y="5060077"/>
            <a:ext cx="5004323" cy="1049062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400" b="1" dirty="0"/>
              <a:t>   📊 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Shows </a:t>
            </a:r>
            <a:r>
              <a:rPr lang="en-US" sz="1400" b="1" dirty="0"/>
              <a:t>energy used per unit of GDP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Higher ratio = </a:t>
            </a:r>
            <a:r>
              <a:rPr lang="en-US" sz="1400" b="1" dirty="0"/>
              <a:t>more energy-intensive economy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Helps identify </a:t>
            </a:r>
            <a:r>
              <a:rPr lang="en-US" sz="1400" b="1" dirty="0"/>
              <a:t>less energy-efficient countries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97CB92-0C12-EAC1-DD31-5F7906F713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3157" y="2888321"/>
            <a:ext cx="3543795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442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5C808-4F0F-F31D-E378-09B7869F1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CBFD4-537D-1A5E-AB97-17DCFA22D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451" y="1130151"/>
            <a:ext cx="11465342" cy="706964"/>
          </a:xfrm>
        </p:spPr>
        <p:txBody>
          <a:bodyPr/>
          <a:lstStyle/>
          <a:p>
            <a:r>
              <a:rPr lang="en-IN" sz="2400" dirty="0"/>
              <a:t>5️⃣</a:t>
            </a:r>
            <a:r>
              <a:rPr lang="en-US" sz="2400" b="1" dirty="0"/>
              <a:t>What is the correlation between GDP growth and energy production growth?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0C0CC4-40F4-828F-668B-94205EC68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677" y="2467303"/>
            <a:ext cx="4496427" cy="26102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33D9F7-8C2A-76A0-B487-CAF671CF34A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  <p:sp>
        <p:nvSpPr>
          <p:cNvPr id="5" name="Shape 1">
            <a:extLst>
              <a:ext uri="{FF2B5EF4-FFF2-40B4-BE49-F238E27FC236}">
                <a16:creationId xmlns:a16="http://schemas.microsoft.com/office/drawing/2014/main" id="{A8C7D88C-7976-EE52-4CAB-3A7FFABBE950}"/>
              </a:ext>
            </a:extLst>
          </p:cNvPr>
          <p:cNvSpPr/>
          <p:nvPr/>
        </p:nvSpPr>
        <p:spPr>
          <a:xfrm>
            <a:off x="6249122" y="2467303"/>
            <a:ext cx="1806367" cy="342697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600" b="1" dirty="0"/>
              <a:t>Output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4B517245-B1EC-6B69-7E8A-7B6C43A8970D}"/>
              </a:ext>
            </a:extLst>
          </p:cNvPr>
          <p:cNvSpPr/>
          <p:nvPr/>
        </p:nvSpPr>
        <p:spPr>
          <a:xfrm>
            <a:off x="300773" y="5335973"/>
            <a:ext cx="4878199" cy="1049062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400" b="1" dirty="0"/>
              <a:t>   📈 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Compares </a:t>
            </a:r>
            <a:r>
              <a:rPr lang="en-US" sz="1400" b="1" dirty="0"/>
              <a:t>GDP trend with production trend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Similar movement indicates </a:t>
            </a:r>
            <a:r>
              <a:rPr lang="en-US" sz="1400" b="1" dirty="0"/>
              <a:t>positive correlation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Helps study </a:t>
            </a:r>
            <a:r>
              <a:rPr lang="en-US" sz="1400" b="1" dirty="0"/>
              <a:t>economic and energy dependency 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F471DF-DC29-5039-F776-090E4C2A67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9122" y="2910492"/>
            <a:ext cx="3029373" cy="30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316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86D85-871A-20E3-DDBC-64AE69BB0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">
            <a:extLst>
              <a:ext uri="{FF2B5EF4-FFF2-40B4-BE49-F238E27FC236}">
                <a16:creationId xmlns:a16="http://schemas.microsoft.com/office/drawing/2014/main" id="{24CE897D-00BE-2AD8-5746-E91D72C0228A}"/>
              </a:ext>
            </a:extLst>
          </p:cNvPr>
          <p:cNvSpPr/>
          <p:nvPr/>
        </p:nvSpPr>
        <p:spPr>
          <a:xfrm>
            <a:off x="7249762" y="2317077"/>
            <a:ext cx="1868658" cy="419100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E71CF77-E1CC-2686-D723-186267094894}"/>
              </a:ext>
            </a:extLst>
          </p:cNvPr>
          <p:cNvSpPr/>
          <p:nvPr/>
        </p:nvSpPr>
        <p:spPr>
          <a:xfrm>
            <a:off x="562005" y="1012098"/>
            <a:ext cx="11067990" cy="562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3600" dirty="0"/>
              <a:t>🌐</a:t>
            </a:r>
            <a:r>
              <a:rPr lang="en-IN" sz="3600" b="1" dirty="0">
                <a:solidFill>
                  <a:schemeClr val="bg1"/>
                </a:solidFill>
              </a:rPr>
              <a:t>Global Comparisons</a:t>
            </a:r>
            <a:endParaRPr lang="en-IN" sz="5400" b="1" dirty="0">
              <a:solidFill>
                <a:schemeClr val="bg1"/>
              </a:solidFill>
            </a:endParaRPr>
          </a:p>
          <a:p>
            <a:br>
              <a:rPr lang="en-IN" sz="1000" dirty="0"/>
            </a:br>
            <a:r>
              <a:rPr lang="en-US" sz="2400" b="1" dirty="0">
                <a:solidFill>
                  <a:schemeClr val="bg1"/>
                </a:solidFill>
              </a:rPr>
              <a:t>1️⃣ What are the top 10 countries by population and how do their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emissions compare?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37CD00-48CA-C6D2-471E-AC92326E3D7B}"/>
              </a:ext>
            </a:extLst>
          </p:cNvPr>
          <p:cNvSpPr txBox="1"/>
          <p:nvPr/>
        </p:nvSpPr>
        <p:spPr>
          <a:xfrm>
            <a:off x="7436386" y="2357350"/>
            <a:ext cx="23232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Output</a:t>
            </a:r>
            <a:endParaRPr lang="en-US" sz="14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F914FE-BA27-AE70-818F-16C6B336A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50" y="2286403"/>
            <a:ext cx="3995440" cy="254572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94D9C06-8AA0-6CD4-65A1-C60957D7498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  <p:sp>
        <p:nvSpPr>
          <p:cNvPr id="26" name="Shape 1">
            <a:extLst>
              <a:ext uri="{FF2B5EF4-FFF2-40B4-BE49-F238E27FC236}">
                <a16:creationId xmlns:a16="http://schemas.microsoft.com/office/drawing/2014/main" id="{E6A99B23-2B7D-3F4B-B33A-145D1E867334}"/>
              </a:ext>
            </a:extLst>
          </p:cNvPr>
          <p:cNvSpPr/>
          <p:nvPr/>
        </p:nvSpPr>
        <p:spPr>
          <a:xfrm>
            <a:off x="300773" y="5186201"/>
            <a:ext cx="5934489" cy="1049062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400" b="1" dirty="0"/>
              <a:t>   🌍 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Highly populated countries show </a:t>
            </a:r>
            <a:r>
              <a:rPr lang="en-US" sz="1400" b="1" dirty="0"/>
              <a:t>higher total emissions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China has </a:t>
            </a:r>
            <a:r>
              <a:rPr lang="en-US" sz="1400" b="1" dirty="0"/>
              <a:t>highest emissions among top populated countries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Population size strongly impacts emission levels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8C749BF-15E2-4A38-8E09-226DEECF32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6225" y="2854385"/>
            <a:ext cx="2838846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4818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926B5-9F0C-FBA1-9942-51496601F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DBFB9A10-4C2D-F423-9294-F88F82A47EFC}"/>
              </a:ext>
            </a:extLst>
          </p:cNvPr>
          <p:cNvSpPr/>
          <p:nvPr/>
        </p:nvSpPr>
        <p:spPr>
          <a:xfrm>
            <a:off x="562005" y="1226668"/>
            <a:ext cx="11067990" cy="562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br>
              <a:rPr lang="en-IN" sz="1000" dirty="0"/>
            </a:br>
            <a:r>
              <a:rPr lang="en-US" sz="2400" b="1" dirty="0">
                <a:solidFill>
                  <a:schemeClr val="bg1"/>
                </a:solidFill>
              </a:rPr>
              <a:t>2️⃣ Which countries have improved (reduced) their per capita emissions the most over the last decade?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361BCCC-EEF0-FEEC-6102-95EFCDD5E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05" y="2614893"/>
            <a:ext cx="5199359" cy="245353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BA6A7CB-5A15-55B4-567F-DD902B6D0A4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  <p:sp>
        <p:nvSpPr>
          <p:cNvPr id="2" name="Shape 1">
            <a:extLst>
              <a:ext uri="{FF2B5EF4-FFF2-40B4-BE49-F238E27FC236}">
                <a16:creationId xmlns:a16="http://schemas.microsoft.com/office/drawing/2014/main" id="{4E139CFF-8193-0214-75CF-774B58B468FC}"/>
              </a:ext>
            </a:extLst>
          </p:cNvPr>
          <p:cNvSpPr/>
          <p:nvPr/>
        </p:nvSpPr>
        <p:spPr>
          <a:xfrm>
            <a:off x="6096000" y="2317077"/>
            <a:ext cx="1868658" cy="419100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632747-7EFC-6B3F-2990-574A180D1E3D}"/>
              </a:ext>
            </a:extLst>
          </p:cNvPr>
          <p:cNvSpPr txBox="1"/>
          <p:nvPr/>
        </p:nvSpPr>
        <p:spPr>
          <a:xfrm>
            <a:off x="6096000" y="2357350"/>
            <a:ext cx="23232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Output</a:t>
            </a:r>
            <a:endParaRPr lang="en-US" sz="1400" b="1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D7F8467-8C12-0796-C957-2F2A9B6A503D}"/>
              </a:ext>
            </a:extLst>
          </p:cNvPr>
          <p:cNvSpPr/>
          <p:nvPr/>
        </p:nvSpPr>
        <p:spPr>
          <a:xfrm>
            <a:off x="363835" y="5369221"/>
            <a:ext cx="5934489" cy="1049062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400" b="1" dirty="0"/>
              <a:t>   📊 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Shows </a:t>
            </a:r>
            <a:r>
              <a:rPr lang="en-US" sz="1400" b="1" dirty="0"/>
              <a:t>energy used per unit of GDP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Higher ratio = </a:t>
            </a:r>
            <a:r>
              <a:rPr lang="en-US" sz="1400" b="1" dirty="0"/>
              <a:t>more energy-intensive economy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Helps identify </a:t>
            </a:r>
            <a:r>
              <a:rPr lang="en-US" sz="1400" b="1" dirty="0"/>
              <a:t>less energy-efficient countries</a:t>
            </a:r>
            <a:r>
              <a:rPr lang="en-US" sz="1400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AEB9FD-EC63-A6F2-6B73-A866BAA83A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655" y="2782430"/>
            <a:ext cx="603014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615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B0BC-72E3-AF86-BE00-C30CC82FC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D80591B7-59B2-1BD4-FB94-F9D85C18B82D}"/>
              </a:ext>
            </a:extLst>
          </p:cNvPr>
          <p:cNvSpPr/>
          <p:nvPr/>
        </p:nvSpPr>
        <p:spPr>
          <a:xfrm>
            <a:off x="533400" y="1364851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/>
                </a:solidFill>
              </a:rPr>
              <a:t>3️⃣ What is the global share (%) of emissions by country?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96458564-F2EB-3C95-C3E2-E292AF83915F}"/>
              </a:ext>
            </a:extLst>
          </p:cNvPr>
          <p:cNvSpPr/>
          <p:nvPr/>
        </p:nvSpPr>
        <p:spPr>
          <a:xfrm>
            <a:off x="7365055" y="2667065"/>
            <a:ext cx="1723428" cy="387563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400" b="1" dirty="0"/>
              <a:t>Output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3772E58-4070-4559-E4CE-6EBCFE3C1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73" y="2860845"/>
            <a:ext cx="6401693" cy="16165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FADD17-3DE6-0C0A-38F7-DFA42BF038E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14168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  <p:sp>
        <p:nvSpPr>
          <p:cNvPr id="16" name="Shape 1">
            <a:extLst>
              <a:ext uri="{FF2B5EF4-FFF2-40B4-BE49-F238E27FC236}">
                <a16:creationId xmlns:a16="http://schemas.microsoft.com/office/drawing/2014/main" id="{8E5FCCBC-95B7-DEEA-4C98-E5822E050D90}"/>
              </a:ext>
            </a:extLst>
          </p:cNvPr>
          <p:cNvSpPr/>
          <p:nvPr/>
        </p:nvSpPr>
        <p:spPr>
          <a:xfrm>
            <a:off x="428211" y="4937428"/>
            <a:ext cx="5207961" cy="1049062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400" b="1" dirty="0"/>
              <a:t>   </a:t>
            </a:r>
            <a:endParaRPr lang="en-US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2DDBA4C-B631-4202-74F6-4307431093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7476" y="3139093"/>
            <a:ext cx="2572109" cy="308653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F644FE1-4BCC-7ADF-EE6B-5F4E2196F646}"/>
              </a:ext>
            </a:extLst>
          </p:cNvPr>
          <p:cNvSpPr txBox="1"/>
          <p:nvPr/>
        </p:nvSpPr>
        <p:spPr>
          <a:xfrm>
            <a:off x="533400" y="4937428"/>
            <a:ext cx="60973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🌍 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China contributes the </a:t>
            </a:r>
            <a:r>
              <a:rPr lang="en-US" sz="1400" b="1" dirty="0"/>
              <a:t>largest global share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US and India are next major contributors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Top countries account for major global emissions</a:t>
            </a:r>
          </a:p>
        </p:txBody>
      </p:sp>
    </p:spTree>
    <p:extLst>
      <p:ext uri="{BB962C8B-B14F-4D97-AF65-F5344CB8AC3E}">
        <p14:creationId xmlns:p14="http://schemas.microsoft.com/office/powerpoint/2010/main" val="40939511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7A480-19A4-CB8F-2EFE-7F50A0E03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7F7C0CE2-6BC1-34AD-C48A-93B2B7E90157}"/>
              </a:ext>
            </a:extLst>
          </p:cNvPr>
          <p:cNvSpPr/>
          <p:nvPr/>
        </p:nvSpPr>
        <p:spPr>
          <a:xfrm>
            <a:off x="533400" y="1482372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IN" sz="2400" b="1" dirty="0">
                <a:solidFill>
                  <a:schemeClr val="bg1"/>
                </a:solidFill>
              </a:rPr>
              <a:t>4️⃣ </a:t>
            </a:r>
            <a:r>
              <a:rPr lang="en-US" sz="2400" b="1" dirty="0">
                <a:solidFill>
                  <a:schemeClr val="bg1"/>
                </a:solidFill>
              </a:rPr>
              <a:t>What is the global average GDP, emission, and population by year?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</a:pPr>
            <a:endParaRPr lang="en-US" sz="16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271F6962-11A7-4422-7479-F279CA0B1CF4}"/>
              </a:ext>
            </a:extLst>
          </p:cNvPr>
          <p:cNvSpPr/>
          <p:nvPr/>
        </p:nvSpPr>
        <p:spPr>
          <a:xfrm>
            <a:off x="6362700" y="2470387"/>
            <a:ext cx="1806367" cy="342697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600" b="1" dirty="0"/>
              <a:t>Output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B96D77-43F3-1BA3-4D09-73A681E5E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98" y="2536161"/>
            <a:ext cx="5134692" cy="24270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AD6937-A17A-E836-B0A9-B631C5FB607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14168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  <p:sp>
        <p:nvSpPr>
          <p:cNvPr id="13" name="Shape 1">
            <a:extLst>
              <a:ext uri="{FF2B5EF4-FFF2-40B4-BE49-F238E27FC236}">
                <a16:creationId xmlns:a16="http://schemas.microsoft.com/office/drawing/2014/main" id="{A4B68DD8-4F22-282A-8550-15A9258274D6}"/>
              </a:ext>
            </a:extLst>
          </p:cNvPr>
          <p:cNvSpPr/>
          <p:nvPr/>
        </p:nvSpPr>
        <p:spPr>
          <a:xfrm>
            <a:off x="276530" y="5265106"/>
            <a:ext cx="4760554" cy="1049062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US" sz="1400" b="1" dirty="0"/>
              <a:t>   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FC49F3-F2FD-1EC8-C0D3-FD2A914AB167}"/>
              </a:ext>
            </a:extLst>
          </p:cNvPr>
          <p:cNvSpPr txBox="1"/>
          <p:nvPr/>
        </p:nvSpPr>
        <p:spPr>
          <a:xfrm>
            <a:off x="533400" y="5265106"/>
            <a:ext cx="60973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🌍 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Average GDP shows steady yearly growth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Average emissions rise year over year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Population also increases consistently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73DDC06-24AF-C485-DC22-45E28C16A0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6067" y="2983710"/>
            <a:ext cx="4410691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5129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47E08-09BC-13D2-D502-DE137FC06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E1392-DF06-CE0C-DE65-B5938D960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80" y="965646"/>
            <a:ext cx="8761413" cy="706964"/>
          </a:xfrm>
        </p:spPr>
        <p:txBody>
          <a:bodyPr/>
          <a:lstStyle/>
          <a:p>
            <a:r>
              <a:rPr lang="en-IN" dirty="0"/>
              <a:t>💡KEY INSIGHTS &amp; INTERPRETATION</a:t>
            </a:r>
            <a:endParaRPr lang="en-IN" b="1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2EC6629-57CA-E11D-5807-13A8FFE73A4C}"/>
              </a:ext>
            </a:extLst>
          </p:cNvPr>
          <p:cNvSpPr/>
          <p:nvPr/>
        </p:nvSpPr>
        <p:spPr>
          <a:xfrm>
            <a:off x="395381" y="2703095"/>
            <a:ext cx="3344779" cy="1580147"/>
          </a:xfrm>
          <a:prstGeom prst="roundRect">
            <a:avLst/>
          </a:prstGeom>
          <a:effectLst>
            <a:outerShdw blurRad="50800" dist="50800" dir="5400000" algn="ctr" rotWithShape="0">
              <a:schemeClr val="accent1">
                <a:lumMod val="60000"/>
                <a:lumOff val="40000"/>
                <a:alpha val="7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D198BD-5F6B-0F17-B2AA-A7A5A8BE0279}"/>
              </a:ext>
            </a:extLst>
          </p:cNvPr>
          <p:cNvSpPr/>
          <p:nvPr/>
        </p:nvSpPr>
        <p:spPr>
          <a:xfrm>
            <a:off x="7193181" y="4523653"/>
            <a:ext cx="3344779" cy="1580147"/>
          </a:xfrm>
          <a:prstGeom prst="roundRect">
            <a:avLst/>
          </a:prstGeom>
          <a:effectLst>
            <a:outerShdw blurRad="50800" dist="50800" dir="5400000" algn="ctr" rotWithShape="0">
              <a:schemeClr val="accent1">
                <a:lumMod val="60000"/>
                <a:lumOff val="40000"/>
                <a:alpha val="7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264518-9C69-91F7-D4E3-4E11E32B425A}"/>
              </a:ext>
            </a:extLst>
          </p:cNvPr>
          <p:cNvSpPr/>
          <p:nvPr/>
        </p:nvSpPr>
        <p:spPr>
          <a:xfrm>
            <a:off x="4633535" y="2703095"/>
            <a:ext cx="3344779" cy="1580147"/>
          </a:xfrm>
          <a:prstGeom prst="roundRect">
            <a:avLst/>
          </a:prstGeom>
          <a:effectLst>
            <a:outerShdw blurRad="50800" dist="50800" dir="5400000" algn="ctr" rotWithShape="0">
              <a:schemeClr val="accent1">
                <a:lumMod val="60000"/>
                <a:lumOff val="40000"/>
                <a:alpha val="7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9E5466-1111-627F-F271-B2FE17C16297}"/>
              </a:ext>
            </a:extLst>
          </p:cNvPr>
          <p:cNvSpPr/>
          <p:nvPr/>
        </p:nvSpPr>
        <p:spPr>
          <a:xfrm>
            <a:off x="2884331" y="4537495"/>
            <a:ext cx="3344779" cy="1580147"/>
          </a:xfrm>
          <a:prstGeom prst="roundRect">
            <a:avLst/>
          </a:prstGeom>
          <a:effectLst>
            <a:outerShdw blurRad="50800" dist="50800" dir="5400000" algn="ctr" rotWithShape="0">
              <a:schemeClr val="accent1">
                <a:lumMod val="60000"/>
                <a:lumOff val="40000"/>
                <a:alpha val="7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BA776C25-852B-817A-505E-AEB686BAF956}"/>
              </a:ext>
            </a:extLst>
          </p:cNvPr>
          <p:cNvSpPr/>
          <p:nvPr/>
        </p:nvSpPr>
        <p:spPr>
          <a:xfrm>
            <a:off x="461935" y="2808338"/>
            <a:ext cx="3211669" cy="1369660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🌍 Top Emitters</a:t>
            </a:r>
          </a:p>
          <a:p>
            <a:br>
              <a:rPr lang="en-US" sz="1100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China, USA, and India contribute the highest emissions.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7D18A0DE-BC28-7623-B729-6F1B4F0C8980}"/>
              </a:ext>
            </a:extLst>
          </p:cNvPr>
          <p:cNvSpPr/>
          <p:nvPr/>
        </p:nvSpPr>
        <p:spPr>
          <a:xfrm>
            <a:off x="4700089" y="2808338"/>
            <a:ext cx="3211669" cy="1369660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📈 Growth Trend</a:t>
            </a:r>
          </a:p>
          <a:p>
            <a:br>
              <a:rPr lang="en-US" sz="1100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Global emissions and energy demand increased year over year.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A3A2EE34-0E31-6FE5-434B-FAF8626B52BF}"/>
              </a:ext>
            </a:extLst>
          </p:cNvPr>
          <p:cNvSpPr/>
          <p:nvPr/>
        </p:nvSpPr>
        <p:spPr>
          <a:xfrm>
            <a:off x="2966454" y="4642738"/>
            <a:ext cx="3211669" cy="1369660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💰 GDP Impact</a:t>
            </a:r>
          </a:p>
          <a:p>
            <a:br>
              <a:rPr lang="en-US" sz="1100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Higher GDP generally leads to higher energy consumption.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B9C18171-99B1-97FE-C528-18219960DF67}"/>
              </a:ext>
            </a:extLst>
          </p:cNvPr>
          <p:cNvSpPr/>
          <p:nvPr/>
        </p:nvSpPr>
        <p:spPr>
          <a:xfrm>
            <a:off x="7259735" y="4642738"/>
            <a:ext cx="3211669" cy="1369660"/>
          </a:xfrm>
          <a:custGeom>
            <a:avLst/>
            <a:gdLst/>
            <a:ahLst/>
            <a:cxnLst/>
            <a:rect l="l" t="t" r="r" b="b"/>
            <a:pathLst>
              <a:path w="2647950" h="419100">
                <a:moveTo>
                  <a:pt x="209550" y="0"/>
                </a:moveTo>
                <a:lnTo>
                  <a:pt x="2438400" y="0"/>
                </a:lnTo>
                <a:cubicBezTo>
                  <a:pt x="2554054" y="0"/>
                  <a:pt x="2647950" y="93896"/>
                  <a:pt x="2647950" y="209550"/>
                </a:cubicBezTo>
                <a:lnTo>
                  <a:pt x="2647950" y="209550"/>
                </a:lnTo>
                <a:cubicBezTo>
                  <a:pt x="2647950" y="325204"/>
                  <a:pt x="2554054" y="419100"/>
                  <a:pt x="2438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94D2BD">
              <a:alpha val="30196"/>
            </a:srgbClr>
          </a:solidFill>
          <a:ln/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👥 Population Effect</a:t>
            </a:r>
          </a:p>
          <a:p>
            <a:br>
              <a:rPr lang="en-IN" sz="1100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Population growth significantly impacts emissions.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F2B9C6-141E-C9BC-EC99-C968974D53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4001454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7F1B8-5501-DC3A-44F4-9D3AE0508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7FB5292-7318-D423-B6F7-6792C84602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7524" y="2353948"/>
            <a:ext cx="4416972" cy="3857644"/>
          </a:xfrm>
          <a:prstGeom prst="rect">
            <a:avLst/>
          </a:prstGeom>
          <a:effectLst>
            <a:outerShdw blurRad="1206500"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5370C1E-5FA6-067C-A8C8-B0EE2A52E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🚧CHALLENGES FACED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331A26B-B896-A93B-2903-60E6A375F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74" y="2563498"/>
            <a:ext cx="7006085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The project required developing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independent analytical </a:t>
            </a: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perspective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Many business questions had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possible SQL solutions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The main challenge was choosing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efficient 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logical query approach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Every query needed proper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reasoning and justification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the chosen method.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Converting SQL outputs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meaningful real-world insights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was also challenging.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0E14EF-AB39-091B-2DEA-9824800BBE7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4172310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E6A27-CD80-157A-932B-D408CD11E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DEF7F18-BCAD-3B80-6FD1-83AE23876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8405" y="2494439"/>
            <a:ext cx="5005552" cy="3641834"/>
          </a:xfrm>
          <a:prstGeom prst="rect">
            <a:avLst/>
          </a:prstGeom>
          <a:effectLst>
            <a:outerShdw blurRad="558800"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1F46A76-E961-B0B9-3AF3-EC0FE3F54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🚀 FUTURE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D6345C-8E04-2536-269E-6C1E6BE92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18" y="2771249"/>
            <a:ext cx="5894562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• Integrate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Power BI dashboards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interactive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visualization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• Apply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Machine Learning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future energy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demand prediction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• Include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renewable energy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sustainability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metrics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• 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real-time APIs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live global energy data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• Build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decision-support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policy planning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0C95DE-C018-8937-80A8-32B8784B93C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0894922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81B9F-2C40-8542-9A69-D21CC6B36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520AD09-D1AB-6BC5-0C13-410F1DB86D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09700" y="2464986"/>
            <a:ext cx="3641834" cy="3641834"/>
          </a:xfrm>
          <a:prstGeom prst="rect">
            <a:avLst/>
          </a:prstGeom>
          <a:effectLst>
            <a:outerShdw blurRad="558800"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0DAF4F6-5750-7B27-61D4-C46297BDF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CONCLUSION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729B5A1-3E63-9877-3E28-B05968370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779" y="2259615"/>
            <a:ext cx="7137839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This project successfully analyzed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energy consumption,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production, GDP, population, and emissions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SQL.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The analysis helped identify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emission-producing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countries, economic trends, and per capita comparisons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Results showed a strong relationship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GDP growth,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population increase, and energy demand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The project provided meaningful insights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energy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patterns and environmental impact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Overall, this analysis can support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decision-making,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sustainability planning, and future forecasting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1D4856-AE69-1D36-C8A3-19F3A42C6C2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675" y="6304643"/>
            <a:ext cx="2524125" cy="4381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5377910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F37D6-88D9-38BA-D15A-C7C68E718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43109-604C-A320-F12D-5CFF6976B3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0807B2-367A-CDB9-541B-9992745CA3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 Your Time and Attention</a:t>
            </a:r>
            <a:endParaRPr lang="en-IN" dirty="0"/>
          </a:p>
        </p:txBody>
      </p:sp>
      <p:pic>
        <p:nvPicPr>
          <p:cNvPr id="10" name="Google Shape;116;p5">
            <a:extLst>
              <a:ext uri="{FF2B5EF4-FFF2-40B4-BE49-F238E27FC236}">
                <a16:creationId xmlns:a16="http://schemas.microsoft.com/office/drawing/2014/main" id="{CB26F3CC-5EBF-58E3-814C-38CC988ADFF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69902" y="2733618"/>
            <a:ext cx="4465643" cy="2834317"/>
          </a:xfrm>
          <a:prstGeom prst="rect">
            <a:avLst/>
          </a:prstGeom>
          <a:noFill/>
          <a:ln>
            <a:noFill/>
          </a:ln>
          <a:effectLst>
            <a:glow rad="1905000">
              <a:schemeClr val="accent1">
                <a:alpha val="22000"/>
              </a:schemeClr>
            </a:glow>
            <a:outerShdw blurRad="1270000" dist="50800" dir="5400000" algn="ctr" rotWithShape="0">
              <a:srgbClr val="000000">
                <a:alpha val="43137"/>
              </a:srgbClr>
            </a:outerShdw>
            <a:softEdge rad="7620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C84EC2-252D-70EC-7CFD-93B4A8AB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47973" y="5743575"/>
            <a:ext cx="2639890" cy="458245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8711491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2711</TotalTime>
  <Words>1422</Words>
  <Application>Microsoft Office PowerPoint</Application>
  <PresentationFormat>Widescreen</PresentationFormat>
  <Paragraphs>257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Arial Black</vt:lpstr>
      <vt:lpstr>Calibri</vt:lpstr>
      <vt:lpstr>Century Gothic</vt:lpstr>
      <vt:lpstr>Liter</vt:lpstr>
      <vt:lpstr>Wingdings 3</vt:lpstr>
      <vt:lpstr>Ion Boardroom</vt:lpstr>
      <vt:lpstr>World Wide Energy Consumption Analysis  </vt:lpstr>
      <vt:lpstr>PowerPoint Presentation</vt:lpstr>
      <vt:lpstr>⚠️ Problem Statement</vt:lpstr>
      <vt:lpstr>🎯 PROJECT OBJECTIVES </vt:lpstr>
      <vt:lpstr>🗂 DATASET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4️⃣ Which energy types contribute most to emissions across all countries? </vt:lpstr>
      <vt:lpstr>PowerPoint Presentation</vt:lpstr>
      <vt:lpstr>PowerPoint Presentation</vt:lpstr>
      <vt:lpstr>PowerPoint Presentation</vt:lpstr>
      <vt:lpstr>4️⃣ Has energy consumption increased or decreased over the years for major economies? </vt:lpstr>
      <vt:lpstr>5️⃣What is the average yearly change in emissions per capita for each country?</vt:lpstr>
      <vt:lpstr>PowerPoint Presentation</vt:lpstr>
      <vt:lpstr>PowerPoint Presentation</vt:lpstr>
      <vt:lpstr>PowerPoint Presentation</vt:lpstr>
      <vt:lpstr>PowerPoint Presentation</vt:lpstr>
      <vt:lpstr>5️⃣What is the correlation between GDP growth and energy production growth?</vt:lpstr>
      <vt:lpstr>PowerPoint Presentation</vt:lpstr>
      <vt:lpstr>PowerPoint Presentation</vt:lpstr>
      <vt:lpstr>PowerPoint Presentation</vt:lpstr>
      <vt:lpstr>PowerPoint Presentation</vt:lpstr>
      <vt:lpstr>💡KEY INSIGHTS &amp; INTERPRETATION</vt:lpstr>
      <vt:lpstr>🚧CHALLENGES FACED</vt:lpstr>
      <vt:lpstr>🚀 FUTURE SCOPE</vt:lpstr>
      <vt:lpstr>✅ 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CONSUMPTION ANALYSIS WITH POWER BI</dc:title>
  <dc:creator>LENOVO</dc:creator>
  <cp:lastModifiedBy>afreen affu</cp:lastModifiedBy>
  <cp:revision>11</cp:revision>
  <dcterms:created xsi:type="dcterms:W3CDTF">2024-02-02T07:34:21Z</dcterms:created>
  <dcterms:modified xsi:type="dcterms:W3CDTF">2026-04-16T07:32:30Z</dcterms:modified>
</cp:coreProperties>
</file>